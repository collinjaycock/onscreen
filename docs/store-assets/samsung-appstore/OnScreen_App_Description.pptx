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p:sldMasterIdLst>
    <p:sldMasterId id="2147483660" r:id="rId5"/>
    <p:sldMasterId id="2147483661" r:id="rId6"/>
  </p:sldMasterIdLst>
  <p:notesMasterIdLst>
    <p:notesMasterId r:id="rId7"/>
  </p:notesMasterIdLst>
  <p:sldIdLst>
    <p:sldId id="257" r:id="rId9"/>
    <p:sldId id="258" r:id="rId10"/>
    <p:sldId id="259" r:id="rId11"/>
    <p:sldId id="268" r:id="rId28"/>
    <p:sldId id="260" r:id="rId12"/>
    <p:sldId id="263" r:id="rId15"/>
    <p:sldId id="269" r:id="rId29"/>
    <p:sldId id="270" r:id="rId30"/>
    <p:sldId id="271" r:id="rId31"/>
    <p:sldId id="272" r:id="rId32"/>
    <p:sldId id="273" r:id="rId33"/>
    <p:sldId id="274" r:id="rId34"/>
    <p:sldId id="275" r:id="rId35"/>
    <p:sldId id="266" r:id="rId18"/>
    <p:sldId id="267" r:id="rId1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375610-7600-4973-BF82-191DA6F836F1}">
  <a:tblStyle styleId="{25375610-7600-4973-BF82-191DA6F836F1}" styleName="Table_0">
    <a:wholeTbl>
      <a:tcTxStyle b="off" i="off">
        <a:font>
          <a:latin typeface="Constantia"/>
          <a:ea typeface="Constantia"/>
          <a:cs typeface="Constanti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a:tcStyle>
        <a:fill>
          <a:solidFill>
            <a:srgbClr val="CAD4EA"/>
          </a:solidFill>
        </a:fill>
      </a:tcStyle>
    </a:band1H>
    <a:band2H>
      <a:tcTxStyle/>
    </a:band2H>
    <a:band1V>
      <a:tcTxStyle/>
      <a:tcStyle>
        <a:fill>
          <a:solidFill>
            <a:srgbClr val="CAD4EA"/>
          </a:solidFill>
        </a:fill>
      </a:tcStyle>
    </a:band1V>
    <a:band2V>
      <a:tcTxStyle/>
    </a:band2V>
    <a:lastCol>
      <a:tcTxStyle b="on" i="off">
        <a:font>
          <a:latin typeface="Constantia"/>
          <a:ea typeface="Constantia"/>
          <a:cs typeface="Constantia"/>
        </a:font>
        <a:schemeClr val="lt1"/>
      </a:tcTxStyle>
      <a:tcStyle>
        <a:fill>
          <a:solidFill>
            <a:schemeClr val="accent1"/>
          </a:solidFill>
        </a:fill>
      </a:tcStyle>
    </a:lastCol>
    <a:firstCol>
      <a:tcTxStyle b="on" i="off">
        <a:font>
          <a:latin typeface="Constantia"/>
          <a:ea typeface="Constantia"/>
          <a:cs typeface="Constantia"/>
        </a:font>
        <a:schemeClr val="lt1"/>
      </a:tcTxStyle>
      <a:tcStyle>
        <a:fill>
          <a:solidFill>
            <a:schemeClr val="accent1"/>
          </a:solidFill>
        </a:fill>
      </a:tcStyle>
    </a:firstCol>
    <a:lastRow>
      <a:tcTxStyle b="on" i="off">
        <a:font>
          <a:latin typeface="Constantia"/>
          <a:ea typeface="Constantia"/>
          <a:cs typeface="Constanti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onstantia"/>
          <a:ea typeface="Constantia"/>
          <a:cs typeface="Constanti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F0D7D541-CF8F-4543-9F64-9DD65BD08CB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5.xml"/><Relationship Id="rId15" Type="http://schemas.openxmlformats.org/officeDocument/2006/relationships/slide" Target="slides/slide6.xml"/><Relationship Id="rId18" Type="http://schemas.openxmlformats.org/officeDocument/2006/relationships/slide" Target="slides/slide14.xml"/><Relationship Id="rId19" Type="http://schemas.openxmlformats.org/officeDocument/2006/relationships/slide" Target="slides/slide15.xml"/><Relationship Id="rId28" Type="http://schemas.openxmlformats.org/officeDocument/2006/relationships/slide" Target="slides/slide4.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16" name="Shape 16"/>
        <p:cNvGrpSpPr/>
        <p:nvPr/>
      </p:nvGrpSpPr>
      <p:grpSpPr>
        <a:xfrm>
          <a:off x="0" y="0"/>
          <a:ext cx="0" cy="0"/>
          <a:chOff x="0" y="0"/>
          <a:chExt cx="0" cy="0"/>
        </a:xfrm>
      </p:grpSpPr>
      <p:sp>
        <p:nvSpPr>
          <p:cNvPr id="17" name="Google Shape;17;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9" name="Google Shape;19;p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bg>
      <p:bgPr>
        <a:gradFill>
          <a:gsLst>
            <a:gs pos="0">
              <a:srgbClr val="439FD7"/>
            </a:gs>
            <a:gs pos="25000">
              <a:srgbClr val="4397CA"/>
            </a:gs>
            <a:gs pos="100000">
              <a:srgbClr val="00466A"/>
            </a:gs>
          </a:gsLst>
          <a:path path="circle">
            <a:fillToRect b="50%" l="50%" r="50%" t="50%"/>
          </a:path>
          <a:tileRect/>
        </a:gradFill>
      </p:bgPr>
    </p:bg>
    <p:spTree>
      <p:nvGrpSpPr>
        <p:cNvPr id="22" name="Shape 22"/>
        <p:cNvGrpSpPr/>
        <p:nvPr/>
      </p:nvGrpSpPr>
      <p:grpSpPr>
        <a:xfrm>
          <a:off x="0" y="0"/>
          <a:ext cx="0" cy="0"/>
          <a:chOff x="0" y="0"/>
          <a:chExt cx="0" cy="0"/>
        </a:xfrm>
      </p:grpSpPr>
      <p:sp>
        <p:nvSpPr>
          <p:cNvPr id="23" name="Google Shape;23;p3"/>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5" name="Google Shape;25;p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28" name="Shape 28"/>
        <p:cNvGrpSpPr/>
        <p:nvPr/>
      </p:nvGrpSpPr>
      <p:grpSpPr>
        <a:xfrm>
          <a:off x="0" y="0"/>
          <a:ext cx="0" cy="0"/>
          <a:chOff x="0" y="0"/>
          <a:chExt cx="0" cy="0"/>
        </a:xfrm>
      </p:grpSpPr>
      <p:sp>
        <p:nvSpPr>
          <p:cNvPr id="29" name="Google Shape;29;p4"/>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1" name="Google Shape;31;p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34" name="Shape 34"/>
        <p:cNvGrpSpPr/>
        <p:nvPr/>
      </p:nvGrpSpPr>
      <p:grpSpPr>
        <a:xfrm>
          <a:off x="0" y="0"/>
          <a:ext cx="0" cy="0"/>
          <a:chOff x="0" y="0"/>
          <a:chExt cx="0" cy="0"/>
        </a:xfrm>
      </p:grpSpPr>
      <p:sp>
        <p:nvSpPr>
          <p:cNvPr id="35" name="Google Shape;35;p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7" name="Google Shape;37;p5"/>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8" name="Google Shape;38;p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41" name="Shape 41"/>
        <p:cNvGrpSpPr/>
        <p:nvPr/>
      </p:nvGrpSpPr>
      <p:grpSpPr>
        <a:xfrm>
          <a:off x="0" y="0"/>
          <a:ext cx="0" cy="0"/>
          <a:chOff x="0" y="0"/>
          <a:chExt cx="0" cy="0"/>
        </a:xfrm>
      </p:grpSpPr>
      <p:sp>
        <p:nvSpPr>
          <p:cNvPr id="42" name="Google Shape;42;p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4" name="Google Shape;44;p6"/>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5" name="Google Shape;45;p6"/>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6" name="Google Shape;46;p6"/>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7" name="Google Shape;47;p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50" name="Shape 50"/>
        <p:cNvGrpSpPr/>
        <p:nvPr/>
      </p:nvGrpSpPr>
      <p:grpSpPr>
        <a:xfrm>
          <a:off x="0" y="0"/>
          <a:ext cx="0" cy="0"/>
          <a:chOff x="0" y="0"/>
          <a:chExt cx="0" cy="0"/>
        </a:xfrm>
      </p:grpSpPr>
      <p:sp>
        <p:nvSpPr>
          <p:cNvPr id="51" name="Google Shape;51;p7"/>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55" name="Shape 55"/>
        <p:cNvGrpSpPr/>
        <p:nvPr/>
      </p:nvGrpSpPr>
      <p:grpSpPr>
        <a:xfrm>
          <a:off x="0" y="0"/>
          <a:ext cx="0" cy="0"/>
          <a:chOff x="0" y="0"/>
          <a:chExt cx="0" cy="0"/>
        </a:xfrm>
      </p:grpSpPr>
      <p:sp>
        <p:nvSpPr>
          <p:cNvPr id="56" name="Google Shape;56;p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59" name="Shape 59"/>
        <p:cNvGrpSpPr/>
        <p:nvPr/>
      </p:nvGrpSpPr>
      <p:grpSpPr>
        <a:xfrm>
          <a:off x="0" y="0"/>
          <a:ext cx="0" cy="0"/>
          <a:chOff x="0" y="0"/>
          <a:chExt cx="0" cy="0"/>
        </a:xfrm>
      </p:grpSpPr>
      <p:sp>
        <p:nvSpPr>
          <p:cNvPr id="60" name="Google Shape;60;p9"/>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9"/>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2" name="Google Shape;62;p9"/>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3" name="Google Shape;63;p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showMasterSp="0" type="picTx">
  <p:cSld name="PICTURE_WITH_CAPTION_TEXT">
    <p:spTree>
      <p:nvGrpSpPr>
        <p:cNvPr id="66" name="Shape 66"/>
        <p:cNvGrpSpPr/>
        <p:nvPr/>
      </p:nvGrpSpPr>
      <p:grpSpPr>
        <a:xfrm>
          <a:off x="0" y="0"/>
          <a:ext cx="0" cy="0"/>
          <a:chOff x="0" y="0"/>
          <a:chExt cx="0" cy="0"/>
        </a:xfrm>
      </p:grpSpPr>
      <p:sp>
        <p:nvSpPr>
          <p:cNvPr id="67" name="Google Shape;67;p10"/>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68" name="Google Shape;68;p10"/>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69" name="Google Shape;69;p10"/>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0"/>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1" name="Google Shape;71;p1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4" name="Google Shape;74;p10"/>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75" name="Google Shape;75;p10"/>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6" name="Google Shape;76;p10"/>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77" name="Shape 77"/>
        <p:cNvGrpSpPr/>
        <p:nvPr/>
      </p:nvGrpSpPr>
      <p:grpSpPr>
        <a:xfrm>
          <a:off x="0" y="0"/>
          <a:ext cx="0" cy="0"/>
          <a:chOff x="0" y="0"/>
          <a:chExt cx="0" cy="0"/>
        </a:xfrm>
      </p:grpSpPr>
      <p:sp>
        <p:nvSpPr>
          <p:cNvPr id="78" name="Google Shape;78;p1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1"/>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0" name="Google Shape;80;p1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83" name="Shape 83"/>
        <p:cNvGrpSpPr/>
        <p:nvPr/>
      </p:nvGrpSpPr>
      <p:grpSpPr>
        <a:xfrm>
          <a:off x="0" y="0"/>
          <a:ext cx="0" cy="0"/>
          <a:chOff x="0" y="0"/>
          <a:chExt cx="0" cy="0"/>
        </a:xfrm>
      </p:grpSpPr>
      <p:sp>
        <p:nvSpPr>
          <p:cNvPr id="84" name="Google Shape;84;p12"/>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2"/>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6" name="Google Shape;86;p1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bg>
      <p:bgPr>
        <a:gradFill>
          <a:gsLst>
            <a:gs pos="0">
              <a:srgbClr val="439FD7"/>
            </a:gs>
            <a:gs pos="25000">
              <a:srgbClr val="4397CA"/>
            </a:gs>
            <a:gs pos="100000">
              <a:srgbClr val="00466A"/>
            </a:gs>
          </a:gsLst>
          <a:path path="circle">
            <a:fillToRect b="50%" l="50%" r="50%" t="50%"/>
          </a:path>
          <a:tileRect/>
        </a:gradFill>
      </p:bgPr>
    </p:bg>
    <p:spTree>
      <p:nvGrpSpPr>
        <p:cNvPr id="100" name="Shape 100"/>
        <p:cNvGrpSpPr/>
        <p:nvPr/>
      </p:nvGrpSpPr>
      <p:grpSpPr>
        <a:xfrm>
          <a:off x="0" y="0"/>
          <a:ext cx="0" cy="0"/>
          <a:chOff x="0" y="0"/>
          <a:chExt cx="0" cy="0"/>
        </a:xfrm>
      </p:grpSpPr>
      <p:sp>
        <p:nvSpPr>
          <p:cNvPr id="101" name="Google Shape;101;p14"/>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4"/>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103" name="Google Shape;103;p1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5" name="Shape 5"/>
        <p:cNvGrpSpPr/>
        <p:nvPr/>
      </p:nvGrpSpPr>
      <p:grpSpPr>
        <a:xfrm>
          <a:off x="0" y="0"/>
          <a:ext cx="0" cy="0"/>
          <a:chOff x="0" y="0"/>
          <a:chExt cx="0" cy="0"/>
        </a:xfrm>
      </p:grpSpPr>
      <p:sp>
        <p:nvSpPr>
          <p:cNvPr id="6" name="Google Shape;6;p1"/>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nstantia"/>
              <a:ea typeface="Constantia"/>
              <a:cs typeface="Constantia"/>
              <a:sym typeface="Constantia"/>
            </a:endParaRPr>
          </a:p>
        </p:txBody>
      </p:sp>
      <p:sp>
        <p:nvSpPr>
          <p:cNvPr id="7" name="Google Shape;7;p1"/>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nstantia"/>
              <a:ea typeface="Constantia"/>
              <a:cs typeface="Constantia"/>
              <a:sym typeface="Constantia"/>
            </a:endParaRPr>
          </a:p>
        </p:txBody>
      </p:sp>
      <p:sp>
        <p:nvSpPr>
          <p:cNvPr id="8" name="Google Shape;8;p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4000"/>
              <a:buFont typeface="Calibri"/>
              <a:buNone/>
              <a:defRPr b="0" i="0" sz="4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Arial"/>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Arial"/>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Arial"/>
              <a:buChar char="⚫"/>
              <a:defRPr b="0" i="0" sz="2100" u="none" cap="none" strike="noStrike">
                <a:solidFill>
                  <a:schemeClr val="dk1"/>
                </a:solidFill>
                <a:latin typeface="Constantia"/>
                <a:ea typeface="Constantia"/>
                <a:cs typeface="Constantia"/>
                <a:sym typeface="Constantia"/>
              </a:defRPr>
            </a:lvl3pPr>
            <a:lvl4pPr indent="-302894" lvl="3" marL="1828800" marR="0" rtl="0" algn="l">
              <a:spcBef>
                <a:spcPts val="360"/>
              </a:spcBef>
              <a:spcAft>
                <a:spcPts val="0"/>
              </a:spcAft>
              <a:buClr>
                <a:schemeClr val="accent3"/>
              </a:buClr>
              <a:buSzPts val="1170"/>
              <a:buFont typeface="Arial"/>
              <a:buChar char="⚫"/>
              <a:defRPr b="0" i="0" sz="1800" u="none" cap="none" strike="noStrike">
                <a:solidFill>
                  <a:schemeClr val="dk1"/>
                </a:solidFill>
                <a:latin typeface="Constantia"/>
                <a:ea typeface="Constantia"/>
                <a:cs typeface="Constantia"/>
                <a:sym typeface="Constantia"/>
              </a:defRPr>
            </a:lvl4pPr>
            <a:lvl5pPr indent="-294639" lvl="4" marL="2286000" marR="0" rtl="0" algn="l">
              <a:spcBef>
                <a:spcPts val="320"/>
              </a:spcBef>
              <a:spcAft>
                <a:spcPts val="0"/>
              </a:spcAft>
              <a:buClr>
                <a:schemeClr val="accent4"/>
              </a:buClr>
              <a:buSzPts val="1040"/>
              <a:buFont typeface="Arial"/>
              <a:buChar char="⚫"/>
              <a:defRPr b="0" i="0" sz="16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Arial"/>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Arial"/>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0" name="Google Shape;10;p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11" name="Google Shape;11;p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12" name="Google Shape;12;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035C75"/>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035C75"/>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035C75"/>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035C75"/>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035C75"/>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035C75"/>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035C75"/>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035C75"/>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3" name="Google Shape;13;p1"/>
          <p:cNvGrpSpPr/>
          <p:nvPr/>
        </p:nvGrpSpPr>
        <p:grpSpPr>
          <a:xfrm>
            <a:off x="-29294" y="-16113"/>
            <a:ext cx="9198255" cy="1086266"/>
            <a:chOff x="-29322" y="-1971"/>
            <a:chExt cx="9198255" cy="1086266"/>
          </a:xfrm>
        </p:grpSpPr>
        <p:sp>
          <p:nvSpPr>
            <p:cNvPr id="14" name="Google Shape;14;p1"/>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 name="Google Shape;15;p1"/>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89" name="Shape 89"/>
        <p:cNvGrpSpPr/>
        <p:nvPr/>
      </p:nvGrpSpPr>
      <p:grpSpPr>
        <a:xfrm>
          <a:off x="0" y="0"/>
          <a:ext cx="0" cy="0"/>
          <a:chOff x="0" y="0"/>
          <a:chExt cx="0" cy="0"/>
        </a:xfrm>
      </p:grpSpPr>
      <p:sp>
        <p:nvSpPr>
          <p:cNvPr id="90" name="Google Shape;90;p13"/>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1" name="Google Shape;91;p13"/>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2" name="Google Shape;92;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4000"/>
              <a:buFont typeface="Calibri"/>
              <a:buNone/>
              <a:defRPr b="0" i="0" sz="4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3" name="Google Shape;93;p1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Arial"/>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Arial"/>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Arial"/>
              <a:buChar char="⚫"/>
              <a:defRPr b="0" i="0" sz="2100" u="none" cap="none" strike="noStrike">
                <a:solidFill>
                  <a:schemeClr val="lt1"/>
                </a:solidFill>
                <a:latin typeface="Constantia"/>
                <a:ea typeface="Constantia"/>
                <a:cs typeface="Constantia"/>
                <a:sym typeface="Constantia"/>
              </a:defRPr>
            </a:lvl3pPr>
            <a:lvl4pPr indent="-302894" lvl="3" marL="1828800" marR="0" rtl="0" algn="l">
              <a:spcBef>
                <a:spcPts val="360"/>
              </a:spcBef>
              <a:spcAft>
                <a:spcPts val="0"/>
              </a:spcAft>
              <a:buClr>
                <a:schemeClr val="accent3"/>
              </a:buClr>
              <a:buSzPts val="1170"/>
              <a:buFont typeface="Arial"/>
              <a:buChar char="⚫"/>
              <a:defRPr b="0" i="0" sz="1800" u="none" cap="none" strike="noStrike">
                <a:solidFill>
                  <a:schemeClr val="lt1"/>
                </a:solidFill>
                <a:latin typeface="Constantia"/>
                <a:ea typeface="Constantia"/>
                <a:cs typeface="Constantia"/>
                <a:sym typeface="Constantia"/>
              </a:defRPr>
            </a:lvl4pPr>
            <a:lvl5pPr indent="-294639" lvl="4" marL="2286000" marR="0" rtl="0" algn="l">
              <a:spcBef>
                <a:spcPts val="320"/>
              </a:spcBef>
              <a:spcAft>
                <a:spcPts val="0"/>
              </a:spcAft>
              <a:buClr>
                <a:schemeClr val="accent4"/>
              </a:buClr>
              <a:buSzPts val="1040"/>
              <a:buFont typeface="Arial"/>
              <a:buChar char="⚫"/>
              <a:defRPr b="0" i="0" sz="16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Arial"/>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Arial"/>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94" name="Google Shape;94;p1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95" name="Google Shape;95;p1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96" name="Google Shape;96;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D0E9ED"/>
                </a:solidFill>
                <a:latin typeface="Constantia"/>
                <a:ea typeface="Constantia"/>
                <a:cs typeface="Constantia"/>
                <a:sym typeface="Constantia"/>
              </a:defRPr>
            </a:lvl1pPr>
            <a:lvl2pPr indent="0" lvl="1" marL="0" marR="0" rtl="0" algn="r">
              <a:spcBef>
                <a:spcPts val="0"/>
              </a:spcBef>
              <a:buNone/>
              <a:defRPr b="0" sz="1200" u="none">
                <a:solidFill>
                  <a:srgbClr val="D0E9ED"/>
                </a:solidFill>
                <a:latin typeface="Constantia"/>
                <a:ea typeface="Constantia"/>
                <a:cs typeface="Constantia"/>
                <a:sym typeface="Constantia"/>
              </a:defRPr>
            </a:lvl2pPr>
            <a:lvl3pPr indent="0" lvl="2" marL="0" marR="0" rtl="0" algn="r">
              <a:spcBef>
                <a:spcPts val="0"/>
              </a:spcBef>
              <a:buNone/>
              <a:defRPr b="0" sz="1200" u="none">
                <a:solidFill>
                  <a:srgbClr val="D0E9ED"/>
                </a:solidFill>
                <a:latin typeface="Constantia"/>
                <a:ea typeface="Constantia"/>
                <a:cs typeface="Constantia"/>
                <a:sym typeface="Constantia"/>
              </a:defRPr>
            </a:lvl3pPr>
            <a:lvl4pPr indent="0" lvl="3" marL="0" marR="0" rtl="0" algn="r">
              <a:spcBef>
                <a:spcPts val="0"/>
              </a:spcBef>
              <a:buNone/>
              <a:defRPr b="0" sz="1200" u="none">
                <a:solidFill>
                  <a:srgbClr val="D0E9ED"/>
                </a:solidFill>
                <a:latin typeface="Constantia"/>
                <a:ea typeface="Constantia"/>
                <a:cs typeface="Constantia"/>
                <a:sym typeface="Constantia"/>
              </a:defRPr>
            </a:lvl4pPr>
            <a:lvl5pPr indent="0" lvl="4" marL="0" marR="0" rtl="0" algn="r">
              <a:spcBef>
                <a:spcPts val="0"/>
              </a:spcBef>
              <a:buNone/>
              <a:defRPr b="0" sz="1200" u="none">
                <a:solidFill>
                  <a:srgbClr val="D0E9ED"/>
                </a:solidFill>
                <a:latin typeface="Constantia"/>
                <a:ea typeface="Constantia"/>
                <a:cs typeface="Constantia"/>
                <a:sym typeface="Constantia"/>
              </a:defRPr>
            </a:lvl5pPr>
            <a:lvl6pPr indent="0" lvl="5" marL="0" marR="0" rtl="0" algn="r">
              <a:spcBef>
                <a:spcPts val="0"/>
              </a:spcBef>
              <a:buNone/>
              <a:defRPr b="0" sz="1200" u="none">
                <a:solidFill>
                  <a:srgbClr val="D0E9ED"/>
                </a:solidFill>
                <a:latin typeface="Constantia"/>
                <a:ea typeface="Constantia"/>
                <a:cs typeface="Constantia"/>
                <a:sym typeface="Constantia"/>
              </a:defRPr>
            </a:lvl6pPr>
            <a:lvl7pPr indent="0" lvl="6" marL="0" marR="0" rtl="0" algn="r">
              <a:spcBef>
                <a:spcPts val="0"/>
              </a:spcBef>
              <a:buNone/>
              <a:defRPr b="0" sz="1200" u="none">
                <a:solidFill>
                  <a:srgbClr val="D0E9ED"/>
                </a:solidFill>
                <a:latin typeface="Constantia"/>
                <a:ea typeface="Constantia"/>
                <a:cs typeface="Constantia"/>
                <a:sym typeface="Constantia"/>
              </a:defRPr>
            </a:lvl7pPr>
            <a:lvl8pPr indent="0" lvl="7" marL="0" marR="0" rtl="0" algn="r">
              <a:spcBef>
                <a:spcPts val="0"/>
              </a:spcBef>
              <a:buNone/>
              <a:defRPr b="0" sz="1200" u="none">
                <a:solidFill>
                  <a:srgbClr val="D0E9ED"/>
                </a:solidFill>
                <a:latin typeface="Constantia"/>
                <a:ea typeface="Constantia"/>
                <a:cs typeface="Constantia"/>
                <a:sym typeface="Constantia"/>
              </a:defRPr>
            </a:lvl8pPr>
            <a:lvl9pPr indent="0" lvl="8" marL="0" marR="0" rtl="0" algn="r">
              <a:spcBef>
                <a:spcPts val="0"/>
              </a:spcBef>
              <a:buNone/>
              <a:defRPr b="0" sz="1200" u="non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97" name="Google Shape;97;p13"/>
          <p:cNvGrpSpPr/>
          <p:nvPr/>
        </p:nvGrpSpPr>
        <p:grpSpPr>
          <a:xfrm>
            <a:off x="-29294" y="-16113"/>
            <a:ext cx="9198255" cy="1086266"/>
            <a:chOff x="-29322" y="-1971"/>
            <a:chExt cx="9198255" cy="1086266"/>
          </a:xfrm>
        </p:grpSpPr>
        <p:sp>
          <p:nvSpPr>
            <p:cNvPr id="98" name="Google Shape;98;p13"/>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9" name="Google Shape;99;p13"/>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6"/>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i="0" lang="en-US"/>
              <a:t>OnScreen</a:t>
            </a:r>
            <a:r>
              <a:rPr lang="en-US"/>
              <a:t> Description</a:t>
            </a:r>
            <a:endParaRPr/>
          </a:p>
        </p:txBody>
      </p:sp>
      <p:sp>
        <p:nvSpPr>
          <p:cNvPr id="117" name="Google Shape;117;p16"/>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Collin Aycock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a:t>Revision History</a:t>
            </a:r>
            <a:endParaRPr/>
          </a:p>
        </p:txBody>
      </p:sp>
      <p:graphicFrame>
        <p:nvGraphicFramePr>
          <p:cNvPr id="123" name="Table 122"/>
          <p:cNvGraphicFramePr>
            <a:graphicFrameLocks noGrp="1"/>
          </p:cNvGraphicFramePr>
          <p:nvPr/>
        </p:nvGraphicFramePr>
        <p:xfrm>
          <a:off x="457200" y="2032000"/>
          <a:ext cx="8229600" cy="660400"/>
        </p:xfrm>
        <a:graphic>
          <a:graphicData uri="http://schemas.openxmlformats.org/drawingml/2006/table">
            <a:tbl>
              <a:tblPr firstRow="1" bandRow="0">
                <a:tableStyleId>{5940675A-B579-460E-94D1-54222C63F5DA}</a:tableStyleId>
              </a:tblPr>
              <a:tblGrid>
                <a:gridCol w="762000"/>
                <a:gridCol w="1079500"/>
                <a:gridCol w="4673600"/>
                <a:gridCol w="1714500"/>
              </a:tblGrid>
              <a:tr h="330200">
                <a:tc>
                  <a:txBody>
                    <a:bodyPr/>
                    <a:lstStyle/>
                    <a:p>
                      <a:r>
                        <a:rPr i="0" b="1" sz="1200">
                          <a:solidFill>
                            <a:srgbClr val="1F2A37"/>
                          </a:solidFill>
                        </a:rPr>
                        <a:t>Version</a:t>
                      </a:r>
                    </a:p>
                  </a:txBody>
                  <a:tcPr marL="38100" marR="38100" marT="19050" marB="19050">
                    <a:solidFill>
                      <a:srgbClr val="E6E6E6"/>
                    </a:solidFill>
                  </a:tcPr>
                </a:tc>
                <a:tc>
                  <a:txBody>
                    <a:bodyPr/>
                    <a:lstStyle/>
                    <a:p>
                      <a:r>
                        <a:rPr i="0" b="1" sz="1200">
                          <a:solidFill>
                            <a:srgbClr val="1F2A37"/>
                          </a:solidFill>
                        </a:rPr>
                        <a:t>Date</a:t>
                      </a:r>
                    </a:p>
                  </a:txBody>
                  <a:tcPr marL="38100" marR="38100" marT="19050" marB="19050">
                    <a:solidFill>
                      <a:srgbClr val="E6E6E6"/>
                    </a:solidFill>
                  </a:tcPr>
                </a:tc>
                <a:tc>
                  <a:txBody>
                    <a:bodyPr/>
                    <a:lstStyle/>
                    <a:p>
                      <a:r>
                        <a:rPr i="0" b="1" sz="1200">
                          <a:solidFill>
                            <a:srgbClr val="1F2A37"/>
                          </a:solidFill>
                        </a:rPr>
                        <a:t>Description</a:t>
                      </a:r>
                    </a:p>
                  </a:txBody>
                  <a:tcPr marL="38100" marR="38100" marT="19050" marB="19050">
                    <a:solidFill>
                      <a:srgbClr val="E6E6E6"/>
                    </a:solidFill>
                  </a:tcPr>
                </a:tc>
                <a:tc>
                  <a:txBody>
                    <a:bodyPr/>
                    <a:lstStyle/>
                    <a:p>
                      <a:r>
                        <a:rPr i="0" b="1" sz="1200">
                          <a:solidFill>
                            <a:srgbClr val="1F2A37"/>
                          </a:solidFill>
                        </a:rPr>
                        <a:t>Author</a:t>
                      </a:r>
                    </a:p>
                  </a:txBody>
                  <a:tcPr marL="38100" marR="38100" marT="19050" marB="19050">
                    <a:solidFill>
                      <a:srgbClr val="E6E6E6"/>
                    </a:solidFill>
                  </a:tcPr>
                </a:tc>
              </a:tr>
              <a:tr h="330200">
                <a:tc>
                  <a:txBody>
                    <a:bodyPr/>
                    <a:lstStyle/>
                    <a:p>
                      <a:r>
                        <a:rPr i="0" sz="1200">
                          <a:solidFill>
                            <a:srgbClr val="1F2A37"/>
                          </a:solidFill>
                        </a:rPr>
                        <a:t>1.0</a:t>
                      </a:r>
                    </a:p>
                  </a:txBody>
                  <a:tcPr marL="38100" marR="38100" marT="19050" marB="19050">
                    <a:solidFill>
                      <a:srgbClr val="FFFFFF"/>
                    </a:solidFill>
                  </a:tcPr>
                </a:tc>
                <a:tc>
                  <a:txBody>
                    <a:bodyPr/>
                    <a:lstStyle/>
                    <a:p>
                      <a:r>
                        <a:rPr i="0" sz="1200">
                          <a:solidFill>
                            <a:srgbClr val="1F2A37"/>
                          </a:solidFill>
                        </a:rPr>
                        <a:t>2026.10.06</a:t>
                      </a:r>
                    </a:p>
                  </a:txBody>
                  <a:tcPr marL="38100" marR="38100" marT="19050" marB="19050">
                    <a:solidFill>
                      <a:srgbClr val="FFFFFF"/>
                    </a:solidFill>
                  </a:tcPr>
                </a:tc>
                <a:tc>
                  <a:txBody>
                    <a:bodyPr/>
                    <a:lstStyle/>
                    <a:p>
                      <a:r>
                        <a:rPr i="0" sz="1200">
                          <a:solidFill>
                            <a:srgbClr val="1F2A37"/>
                          </a:solidFill>
                        </a:rPr>
                        <a:t>First version of this document, for the first submission of OnScreen (app version 1.1.0).</a:t>
                      </a:r>
                    </a:p>
                  </a:txBody>
                  <a:tcPr marL="38100" marR="38100" marT="19050" marB="19050">
                    <a:solidFill>
                      <a:srgbClr val="FFFFFF"/>
                    </a:solidFill>
                  </a:tcPr>
                </a:tc>
                <a:tc>
                  <a:txBody>
                    <a:bodyPr/>
                    <a:lstStyle/>
                    <a:p>
                      <a:r>
                        <a:rPr i="0" sz="1200">
                          <a:solidFill>
                            <a:srgbClr val="1F2A37"/>
                          </a:solidFill>
                        </a:rPr>
                        <a:t>Collin Aycock</a:t>
                      </a:r>
                    </a:p>
                  </a:txBody>
                  <a:tcPr marL="38100" marR="38100" marT="19050" marB="19050">
                    <a:solidFill>
                      <a:srgbClr val="FFFFFF"/>
                    </a:solidFill>
                  </a:tcPr>
                </a:tc>
              </a:tr>
              <a:tr h="330200">
                <a:tc>
                  <a:txBody>
                    <a:bodyPr/>
                    <a:lstStyle/>
                    <a:p>
                      <a:r>
                        <a:rPr i="0" sz="1200">
                          <a:solidFill>
                            <a:srgbClr val="1F2A37"/>
                          </a:solidFill>
                        </a:rPr>
                        <a:t>1.1</a:t>
                      </a:r>
                    </a:p>
                  </a:txBody>
                  <a:tcPr marL="38100" marR="38100" marT="19050" marB="19050">
                    <a:solidFill>
                      <a:srgbClr val="FFFFFF"/>
                    </a:solidFill>
                  </a:tcPr>
                </a:tc>
                <a:tc>
                  <a:txBody>
                    <a:bodyPr/>
                    <a:lstStyle/>
                    <a:p>
                      <a:r>
                        <a:rPr i="0" sz="1200">
                          <a:solidFill>
                            <a:srgbClr val="1F2A37"/>
                          </a:solidFill>
                        </a:rPr>
                        <a:t>2026.10.19</a:t>
                      </a:r>
                    </a:p>
                  </a:txBody>
                  <a:tcPr marL="38100" marR="38100" marT="19050" marB="19050">
                    <a:solidFill>
                      <a:srgbClr val="FFFFFF"/>
                    </a:solidFill>
                  </a:tcPr>
                </a:tc>
                <a:tc>
                  <a:txBody>
                    <a:bodyPr/>
                    <a:lstStyle/>
                    <a:p>
                      <a:r>
                        <a:rPr i="0" sz="1200">
                          <a:solidFill>
                            <a:srgbClr val="1F2A37"/>
                          </a:solidFill>
                        </a:rPr>
                        <a:t>App version 1.1.1 for the resubmission: RETURN on the first screen opens an "Exit OnScreen?" confirmation popup (Return Key Policy). UI structure and usage scenario updated.</a:t>
                      </a:r>
                    </a:p>
                  </a:txBody>
                  <a:tcPr marL="38100" marR="38100" marT="19050" marB="19050">
                    <a:solidFill>
                      <a:srgbClr val="FFFFFF"/>
                    </a:solidFill>
                  </a:tcPr>
                </a:tc>
                <a:tc>
                  <a:txBody>
                    <a:bodyPr/>
                    <a:lstStyle/>
                    <a:p>
                      <a:r>
                        <a:rPr i="0" sz="1200">
                          <a:solidFill>
                            <a:srgbClr val="1F2A37"/>
                          </a:solidFill>
                        </a:rPr>
                        <a:t>Collin Aycock</a:t>
                      </a:r>
                    </a:p>
                  </a:txBody>
                  <a:tcPr marL="38100" marR="38100" marT="19050" marB="19050">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a:t>Contents</a:t>
            </a:r>
            <a:endParaRPr/>
          </a:p>
        </p:txBody>
      </p:sp>
      <p:sp>
        <p:nvSpPr>
          <p:cNvPr id="129" name="Google Shape;129;p1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i="0" sz="2400">
                <a:solidFill>
                  <a:srgbClr val="1F2A37"/>
                </a:solidFill>
              </a:rPr>
              <a:t>App overview and test accounts</a:t>
            </a:r>
          </a:p>
          <a:p>
            <a:pPr indent="-274320" lvl="0" marL="274320" rtl="0" algn="l">
              <a:spcBef>
                <a:spcPts val="0"/>
              </a:spcBef>
              <a:spcAft>
                <a:spcPts val="0"/>
              </a:spcAft>
              <a:buSzPts val="2470"/>
              <a:buChar char="⚫"/>
            </a:pPr>
            <a:r>
              <a:rPr i="0" sz="2400">
                <a:solidFill>
                  <a:srgbClr val="1F2A37"/>
                </a:solidFill>
              </a:rPr>
              <a:t>UI Structure</a:t>
            </a:r>
          </a:p>
          <a:p>
            <a:pPr indent="-274320" lvl="0" marL="274320" rtl="0" algn="l">
              <a:spcBef>
                <a:spcPts val="0"/>
              </a:spcBef>
              <a:spcAft>
                <a:spcPts val="0"/>
              </a:spcAft>
              <a:buSzPts val="2470"/>
              <a:buChar char="⚫"/>
            </a:pPr>
            <a:r>
              <a:rPr i="0" sz="2400">
                <a:solidFill>
                  <a:srgbClr val="1F2A37"/>
                </a:solidFill>
              </a:rPr>
              <a:t>Usage Scenario</a:t>
            </a:r>
          </a:p>
          <a:p>
            <a:pPr indent="-274320" lvl="0" marL="274320" rtl="0" algn="l">
              <a:spcBef>
                <a:spcPts val="0"/>
              </a:spcBef>
              <a:spcAft>
                <a:spcPts val="0"/>
              </a:spcAft>
              <a:buSzPts val="2470"/>
              <a:buChar char="⚫"/>
            </a:pPr>
            <a:r>
              <a:rPr i="0" sz="2400">
                <a:solidFill>
                  <a:srgbClr val="1F2A37"/>
                </a:solidFill>
              </a:rPr>
              <a:t>Menu &amp; function description</a:t>
            </a:r>
          </a:p>
          <a:p>
            <a:pPr indent="-274320" lvl="0" marL="274320" rtl="0" algn="l">
              <a:spcBef>
                <a:spcPts val="0"/>
              </a:spcBef>
              <a:spcAft>
                <a:spcPts val="0"/>
              </a:spcAft>
              <a:buSzPts val="2470"/>
              <a:buChar char="⚫"/>
            </a:pPr>
            <a:r>
              <a:rPr i="0" sz="2400">
                <a:solidFill>
                  <a:srgbClr val="1F2A37"/>
                </a:solidFill>
              </a:rPr>
              <a:t>Key policy</a:t>
            </a:r>
          </a:p>
          <a:p>
            <a:pPr indent="-274320" lvl="0" marL="274320" rtl="0" algn="l">
              <a:spcBef>
                <a:spcPts val="0"/>
              </a:spcBef>
              <a:spcAft>
                <a:spcPts val="0"/>
              </a:spcAft>
              <a:buSzPts val="2470"/>
              <a:buChar char="⚫"/>
            </a:pPr>
            <a:r>
              <a:rPr i="0" sz="2400">
                <a:solidFill>
                  <a:srgbClr val="1F2A37"/>
                </a:solidFill>
              </a:rPr>
              <a:t>How to change languages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i="0">
                <a:solidFill>
                  <a:srgbClr val="0E5A7A"/>
                </a:solidFill>
              </a:rPr>
              <a:t>App Overview &amp; Test Accounts</a:t>
            </a:r>
          </a:p>
        </p:txBody>
      </p:sp>
      <p:sp>
        <p:nvSpPr>
          <p:cNvPr id="3" name="TextBox 2"/>
          <p:cNvSpPr txBox="1"/>
          <p:nvPr/>
        </p:nvSpPr>
        <p:spPr>
          <a:xfrm>
            <a:off x="457200" y="1905000"/>
            <a:ext cx="8229600" cy="1016000"/>
          </a:xfrm>
          <a:prstGeom prst="rect">
            <a:avLst/>
          </a:prstGeom>
          <a:noFill/>
        </p:spPr>
        <p:txBody>
          <a:bodyPr wrap="square">
            <a:spAutoFit/>
          </a:bodyPr>
          <a:lstStyle/>
          <a:p>
            <a:r>
              <a:rPr i="0" sz="1200">
                <a:solidFill>
                  <a:srgbClr val="1F2A37"/>
                </a:solidFill>
              </a:rPr>
              <a:t>OnScreen is the TV app for a self-hosted OnScreen media server. The user runs the server on their own computer or NAS; the app plays the movies, TV shows, music, audiobooks and photos on it. The app ships no content, has no ads, purchases or subscriptions, and needs a server address to work.</a:t>
            </a:r>
          </a:p>
        </p:txBody>
      </p:sp>
      <p:graphicFrame>
        <p:nvGraphicFramePr>
          <p:cNvPr id="4" name="Table 3"/>
          <p:cNvGraphicFramePr>
            <a:graphicFrameLocks noGrp="1"/>
          </p:cNvGraphicFramePr>
          <p:nvPr/>
        </p:nvGraphicFramePr>
        <p:xfrm>
          <a:off x="457200" y="3022600"/>
          <a:ext cx="8229600" cy="2235200"/>
        </p:xfrm>
        <a:graphic>
          <a:graphicData uri="http://schemas.openxmlformats.org/drawingml/2006/table">
            <a:tbl>
              <a:tblPr firstRow="1" bandRow="0">
                <a:tableStyleId>{5940675A-B579-460E-94D1-54222C63F5DA}</a:tableStyleId>
              </a:tblPr>
              <a:tblGrid>
                <a:gridCol w="1905000"/>
                <a:gridCol w="6324600"/>
              </a:tblGrid>
              <a:tr h="279400">
                <a:tc>
                  <a:txBody>
                    <a:bodyPr/>
                    <a:lstStyle/>
                    <a:p>
                      <a:r>
                        <a:rPr i="0" b="1" sz="1000">
                          <a:solidFill>
                            <a:srgbClr val="1F2A37"/>
                          </a:solidFill>
                        </a:rPr>
                        <a:t>Item</a:t>
                      </a:r>
                    </a:p>
                  </a:txBody>
                  <a:tcPr marL="38100" marR="38100" marT="19050" marB="19050">
                    <a:solidFill>
                      <a:srgbClr val="E6E6E6"/>
                    </a:solidFill>
                  </a:tcPr>
                </a:tc>
                <a:tc>
                  <a:txBody>
                    <a:bodyPr/>
                    <a:lstStyle/>
                    <a:p>
                      <a:r>
                        <a:rPr i="0" b="1" sz="1000">
                          <a:solidFill>
                            <a:srgbClr val="1F2A37"/>
                          </a:solidFill>
                        </a:rPr>
                        <a:t>Value</a:t>
                      </a:r>
                    </a:p>
                  </a:txBody>
                  <a:tcPr marL="38100" marR="38100" marT="19050" marB="19050">
                    <a:solidFill>
                      <a:srgbClr val="E6E6E6"/>
                    </a:solidFill>
                  </a:tcPr>
                </a:tc>
              </a:tr>
              <a:tr h="279400">
                <a:tc>
                  <a:txBody>
                    <a:bodyPr/>
                    <a:lstStyle/>
                    <a:p>
                      <a:r>
                        <a:rPr i="0" sz="1000">
                          <a:solidFill>
                            <a:srgbClr val="1F2A37"/>
                          </a:solidFill>
                        </a:rPr>
                        <a:t>Test server URL</a:t>
                      </a:r>
                    </a:p>
                  </a:txBody>
                  <a:tcPr marL="38100" marR="38100" marT="19050" marB="19050">
                    <a:solidFill>
                      <a:srgbClr val="FFFFFF"/>
                    </a:solidFill>
                  </a:tcPr>
                </a:tc>
                <a:tc>
                  <a:txBody>
                    <a:bodyPr/>
                    <a:lstStyle/>
                    <a:p>
                      <a:r>
                        <a:rPr i="0" sz="1000">
                          <a:solidFill>
                            <a:srgbClr val="1F2A37"/>
                          </a:solidFill>
                        </a:rPr>
                        <a:t>https://onscreen-beta.wolverscreen.com (enter it on the app's first screen)</a:t>
                      </a:r>
                    </a:p>
                  </a:txBody>
                  <a:tcPr marL="38100" marR="38100" marT="19050" marB="19050">
                    <a:solidFill>
                      <a:srgbClr val="FFFFFF"/>
                    </a:solidFill>
                  </a:tcPr>
                </a:tc>
              </a:tr>
              <a:tr h="279400">
                <a:tc>
                  <a:txBody>
                    <a:bodyPr/>
                    <a:lstStyle/>
                    <a:p>
                      <a:r>
                        <a:rPr i="0" sz="1000">
                          <a:solidFill>
                            <a:srgbClr val="1F2A37"/>
                          </a:solidFill>
                        </a:rPr>
                        <a:t>Test accounts (ID)</a:t>
                      </a:r>
                    </a:p>
                  </a:txBody>
                  <a:tcPr marL="38100" marR="38100" marT="19050" marB="19050">
                    <a:solidFill>
                      <a:srgbClr val="FFFFFF"/>
                    </a:solidFill>
                  </a:tcPr>
                </a:tc>
                <a:tc>
                  <a:txBody>
                    <a:bodyPr/>
                    <a:lstStyle/>
                    <a:p>
                      <a:r>
                        <a:rPr i="0" sz="1000">
                          <a:solidFill>
                            <a:srgbClr val="1F2A37"/>
                          </a:solidFill>
                        </a:rPr>
                        <a:t>reviewer1, reviewer2, reviewer3, reviewer4, reviewer5, reviewer6, reviewer7, reviewer8</a:t>
                      </a:r>
                    </a:p>
                  </a:txBody>
                  <a:tcPr marL="38100" marR="38100" marT="19050" marB="19050">
                    <a:solidFill>
                      <a:srgbClr val="FFFFFF"/>
                    </a:solidFill>
                  </a:tcPr>
                </a:tc>
              </a:tr>
              <a:tr h="279400">
                <a:tc>
                  <a:txBody>
                    <a:bodyPr/>
                    <a:lstStyle/>
                    <a:p>
                      <a:r>
                        <a:rPr i="0" sz="1000">
                          <a:solidFill>
                            <a:srgbClr val="1F2A37"/>
                          </a:solidFill>
                        </a:rPr>
                        <a:t>Passwords</a:t>
                      </a:r>
                    </a:p>
                  </a:txBody>
                  <a:tcPr marL="38100" marR="38100" marT="19050" marB="19050">
                    <a:solidFill>
                      <a:srgbClr val="FFFFFF"/>
                    </a:solidFill>
                  </a:tcPr>
                </a:tc>
                <a:tc>
                  <a:txBody>
                    <a:bodyPr/>
                    <a:lstStyle/>
                    <a:p>
                      <a:r>
                        <a:rPr i="0" sz="1000">
                          <a:solidFill>
                            <a:srgbClr val="1F2A37"/>
                          </a:solidFill>
                        </a:rPr>
                        <a:t>In the account / password fields of the Seller Office submission</a:t>
                      </a:r>
                    </a:p>
                  </a:txBody>
                  <a:tcPr marL="38100" marR="38100" marT="19050" marB="19050">
                    <a:solidFill>
                      <a:srgbClr val="FFFFFF"/>
                    </a:solidFill>
                  </a:tcPr>
                </a:tc>
              </a:tr>
              <a:tr h="279400">
                <a:tc>
                  <a:txBody>
                    <a:bodyPr/>
                    <a:lstStyle/>
                    <a:p>
                      <a:r>
                        <a:rPr i="0" sz="1000">
                          <a:solidFill>
                            <a:srgbClr val="1F2A37"/>
                          </a:solidFill>
                        </a:rPr>
                        <a:t>Account differences</a:t>
                      </a:r>
                    </a:p>
                  </a:txBody>
                  <a:tcPr marL="38100" marR="38100" marT="19050" marB="19050">
                    <a:solidFill>
                      <a:srgbClr val="FFFFFF"/>
                    </a:solidFill>
                  </a:tcPr>
                </a:tc>
                <a:tc>
                  <a:txBody>
                    <a:bodyPr/>
                    <a:lstStyle/>
                    <a:p>
                      <a:r>
                        <a:rPr i="0" sz="1000">
                          <a:solidFill>
                            <a:srgbClr val="1F2A37"/>
                          </a:solidFill>
                        </a:rPr>
                        <a:t>None. All eight accounts are identical: same content, no ads, no paid tiers, no Live TV, no 4K titles. One account per tester keeps watch progress and favorites separate.</a:t>
                      </a:r>
                    </a:p>
                  </a:txBody>
                  <a:tcPr marL="38100" marR="38100" marT="19050" marB="19050">
                    <a:solidFill>
                      <a:srgbClr val="FFFFFF"/>
                    </a:solidFill>
                  </a:tcPr>
                </a:tc>
              </a:tr>
              <a:tr h="279400">
                <a:tc>
                  <a:txBody>
                    <a:bodyPr/>
                    <a:lstStyle/>
                    <a:p>
                      <a:r>
                        <a:rPr i="0" sz="1000">
                          <a:solidFill>
                            <a:srgbClr val="1F2A37"/>
                          </a:solidFill>
                        </a:rPr>
                        <a:t>Account validity</a:t>
                      </a:r>
                    </a:p>
                  </a:txBody>
                  <a:tcPr marL="38100" marR="38100" marT="19050" marB="19050">
                    <a:solidFill>
                      <a:srgbClr val="FFFFFF"/>
                    </a:solidFill>
                  </a:tcPr>
                </a:tc>
                <a:tc>
                  <a:txBody>
                    <a:bodyPr/>
                    <a:lstStyle/>
                    <a:p>
                      <a:r>
                        <a:rPr i="0" sz="1000">
                          <a:solidFill>
                            <a:srgbClr val="1F2A37"/>
                          </a:solidFill>
                        </a:rPr>
                        <a:t>The accounts do not expire.</a:t>
                      </a:r>
                    </a:p>
                  </a:txBody>
                  <a:tcPr marL="38100" marR="38100" marT="19050" marB="19050">
                    <a:solidFill>
                      <a:srgbClr val="FFFFFF"/>
                    </a:solidFill>
                  </a:tcPr>
                </a:tc>
              </a:tr>
              <a:tr h="279400">
                <a:tc>
                  <a:txBody>
                    <a:bodyPr/>
                    <a:lstStyle/>
                    <a:p>
                      <a:r>
                        <a:rPr i="0" sz="1000">
                          <a:solidFill>
                            <a:srgbClr val="1F2A37"/>
                          </a:solidFill>
                        </a:rPr>
                        <a:t>Content on the test server</a:t>
                      </a:r>
                    </a:p>
                  </a:txBody>
                  <a:tcPr marL="38100" marR="38100" marT="19050" marB="19050">
                    <a:solidFill>
                      <a:srgbClr val="FFFFFF"/>
                    </a:solidFill>
                  </a:tcPr>
                </a:tc>
                <a:tc>
                  <a:txBody>
                    <a:bodyPr/>
                    <a:lstStyle/>
                    <a:p>
                      <a:r>
                        <a:rPr i="0" sz="1000">
                          <a:solidFill>
                            <a:srgbClr val="1F2A37"/>
                          </a:solidFill>
                        </a:rPr>
                        <a:t>Openly licensed works only: Blender Foundation open movies and the Caminandes series (CC BY), Kevin MacLeod music (CC BY), LibriVox audiobooks and NASA photos (public domain).</a:t>
                      </a:r>
                    </a:p>
                  </a:txBody>
                  <a:tcPr marL="38100" marR="38100" marT="19050" marB="19050">
                    <a:solidFill>
                      <a:srgbClr val="FFFFFF"/>
                    </a:solidFill>
                  </a:tcPr>
                </a:tc>
              </a:tr>
              <a:tr h="279400">
                <a:tc>
                  <a:txBody>
                    <a:bodyPr/>
                    <a:lstStyle/>
                    <a:p>
                      <a:r>
                        <a:rPr i="0" sz="1000">
                          <a:solidFill>
                            <a:srgbClr val="1F2A37"/>
                          </a:solidFill>
                        </a:rPr>
                        <a:t>Login, activation, payment</a:t>
                      </a:r>
                    </a:p>
                  </a:txBody>
                  <a:tcPr marL="38100" marR="38100" marT="19050" marB="19050">
                    <a:solidFill>
                      <a:srgbClr val="FFFFFF"/>
                    </a:solidFill>
                  </a:tcPr>
                </a:tc>
                <a:tc>
                  <a:txBody>
                    <a:bodyPr/>
                    <a:lstStyle/>
                    <a:p>
                      <a:r>
                        <a:rPr i="0" sz="1000">
                          <a:solidFill>
                            <a:srgbClr val="1F2A37"/>
                          </a:solidFill>
                        </a:rPr>
                        <a:t>Username and password on the TV's on-screen keyboard. No activation, no payment, no phone or computer needed.</a:t>
                      </a:r>
                    </a:p>
                  </a:txBody>
                  <a:tcPr marL="38100" marR="38100" marT="19050" marB="19050">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a:t>UI Structure</a:t>
            </a:r>
            <a:endParaRPr/>
          </a:p>
        </p:txBody>
      </p:sp>
      <p:sp>
        <p:nvSpPr>
          <p:cNvPr id="135" name="TextBox 134"/>
          <p:cNvSpPr txBox="1"/>
          <p:nvPr/>
        </p:nvSpPr>
        <p:spPr>
          <a:xfrm>
            <a:off x="457200" y="1778000"/>
            <a:ext cx="8229600" cy="279400"/>
          </a:xfrm>
          <a:prstGeom prst="rect">
            <a:avLst/>
          </a:prstGeom>
          <a:noFill/>
        </p:spPr>
        <p:txBody>
          <a:bodyPr wrap="square">
            <a:spAutoFit/>
          </a:bodyPr>
          <a:lstStyle/>
          <a:p>
            <a:r>
              <a:rPr i="0" sz="1200">
                <a:solidFill>
                  <a:srgbClr val="1F2A37"/>
                </a:solidFill>
              </a:rPr>
              <a:t>Whole UI structure (tree): every screen and where OK / Return leads.</a:t>
            </a:r>
          </a:p>
        </p:txBody>
      </p:sp>
      <p:pic>
        <p:nvPicPr>
          <p:cNvPr id="136" name="Picture 135" descr="ui-structure-43.png"/>
          <p:cNvPicPr>
            <a:picLocks noChangeAspect="1"/>
          </p:cNvPicPr>
          <p:nvPr/>
        </p:nvPicPr>
        <p:blipFill>
          <a:blip r:embed="rId3"/>
          <a:stretch>
            <a:fillRect/>
          </a:stretch>
        </p:blipFill>
        <p:spPr>
          <a:xfrm>
            <a:off x="457200" y="2108200"/>
            <a:ext cx="8229600" cy="4572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r>
              <a:rPr i="0">
                <a:solidFill>
                  <a:srgbClr val="0E5A7A"/>
                </a:solidFill>
              </a:rPr>
              <a:t>Usage Scenario (1/2)</a:t>
            </a:r>
          </a:p>
        </p:txBody>
      </p:sp>
      <p:sp>
        <p:nvSpPr>
          <p:cNvPr id="181" name="TextBox 180"/>
          <p:cNvSpPr txBox="1"/>
          <p:nvPr/>
        </p:nvSpPr>
        <p:spPr>
          <a:xfrm>
            <a:off x="457200" y="1778000"/>
            <a:ext cx="7620000" cy="279400"/>
          </a:xfrm>
          <a:prstGeom prst="rect">
            <a:avLst/>
          </a:prstGeom>
          <a:noFill/>
        </p:spPr>
        <p:txBody>
          <a:bodyPr wrap="square">
            <a:spAutoFit/>
          </a:bodyPr>
          <a:lstStyle/>
          <a:p>
            <a:r>
              <a:rPr i="0" b="1" sz="1400">
                <a:solidFill>
                  <a:srgbClr val="1F2A37"/>
                </a:solidFill>
              </a:rPr>
              <a:t>- First launch and sign-in</a:t>
            </a:r>
          </a:p>
        </p:txBody>
      </p:sp>
      <p:pic>
        <p:nvPicPr>
          <p:cNvPr id="182" name="Picture 181" descr="flow-signin.png"/>
          <p:cNvPicPr>
            <a:picLocks noChangeAspect="1"/>
          </p:cNvPicPr>
          <p:nvPr/>
        </p:nvPicPr>
        <p:blipFill>
          <a:blip r:embed="rId3"/>
          <a:stretch>
            <a:fillRect/>
          </a:stretch>
        </p:blipFill>
        <p:spPr>
          <a:xfrm>
            <a:off x="457200" y="2133600"/>
            <a:ext cx="8229600" cy="1592317"/>
          </a:xfrm>
          <a:prstGeom prst="rect">
            <a:avLst/>
          </a:prstGeom>
        </p:spPr>
      </p:pic>
      <p:sp>
        <p:nvSpPr>
          <p:cNvPr id="183" name="TextBox 182"/>
          <p:cNvSpPr txBox="1"/>
          <p:nvPr/>
        </p:nvSpPr>
        <p:spPr>
          <a:xfrm>
            <a:off x="457200" y="4089400"/>
            <a:ext cx="8229600" cy="2540000"/>
          </a:xfrm>
          <a:prstGeom prst="rect">
            <a:avLst/>
          </a:prstGeom>
          <a:noFill/>
        </p:spPr>
        <p:txBody>
          <a:bodyPr wrap="square">
            <a:spAutoFit/>
          </a:bodyPr>
          <a:lstStyle/>
          <a:p>
            <a:r>
              <a:rPr i="0" sz="1100">
                <a:solidFill>
                  <a:srgbClr val="1F2A37"/>
                </a:solidFill>
              </a:rPr>
              <a:t>1. Launch OnScreen. "Add your OnScreen server" opens. Type onscreen-beta.wolverscreen.com with the on-screen keyboard and select done. The app checks the server.</a:t>
            </a:r>
          </a:p>
          <a:p>
            <a:r>
              <a:rPr i="0" sz="1100">
                <a:solidFill>
                  <a:srgbClr val="1F2A37"/>
                </a:solidFill>
              </a:rPr>
              <a:t>2. "Sign in": type the username (for example reviewer1) and select done.</a:t>
            </a:r>
          </a:p>
          <a:p>
            <a:r>
              <a:rPr i="0" sz="1100">
                <a:solidFill>
                  <a:srgbClr val="1F2A37"/>
                </a:solidFill>
              </a:rPr>
              <a:t>3. Type the password and select done.</a:t>
            </a:r>
          </a:p>
          <a:p>
            <a:r>
              <a:rPr i="0" sz="1100">
                <a:solidFill>
                  <a:srgbClr val="1F2A37"/>
                </a:solidFill>
              </a:rPr>
              <a:t>4. Home opens. The app stays signed in after it is closed; Settings &gt; Sign out signs out, and Settings &gt; Forget server goes back to step 1.</a:t>
            </a:r>
          </a:p>
          <a:p>
            <a:r>
              <a:rPr i="0" sz="1000">
                <a:solidFill>
                  <a:srgbClr val="555F6B"/>
                </a:solidFill>
              </a:rPr>
              <a:t>Alternative to steps 2-3: "Sign in with another device" shows a PIN to enter at the server's /pair page from a phone or computer (not needed for testing).</a:t>
            </a:r>
          </a:p>
          <a:p>
            <a:r>
              <a:rPr i="0" sz="1000">
                <a:solidFill>
                  <a:srgbClr val="555F6B"/>
                </a:solidFill>
              </a:rPr>
              <a:t>No activation, payment or account creation in the 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i="0">
                <a:solidFill>
                  <a:srgbClr val="0E5A7A"/>
                </a:solidFill>
              </a:rPr>
              <a:t>Usage Scenario (2/2)</a:t>
            </a:r>
          </a:p>
        </p:txBody>
      </p:sp>
      <p:sp>
        <p:nvSpPr>
          <p:cNvPr id="3" name="TextBox 2"/>
          <p:cNvSpPr txBox="1"/>
          <p:nvPr/>
        </p:nvSpPr>
        <p:spPr>
          <a:xfrm>
            <a:off x="457200" y="1778000"/>
            <a:ext cx="7620000" cy="279400"/>
          </a:xfrm>
          <a:prstGeom prst="rect">
            <a:avLst/>
          </a:prstGeom>
          <a:noFill/>
        </p:spPr>
        <p:txBody>
          <a:bodyPr wrap="square">
            <a:spAutoFit/>
          </a:bodyPr>
          <a:lstStyle/>
          <a:p>
            <a:r>
              <a:rPr i="0" b="1" sz="1400">
                <a:solidFill>
                  <a:srgbClr val="1F2A37"/>
                </a:solidFill>
              </a:rPr>
              <a:t>- Browse and play</a:t>
            </a:r>
          </a:p>
        </p:txBody>
      </p:sp>
      <p:pic>
        <p:nvPicPr>
          <p:cNvPr id="4" name="Picture 3" descr="flow-play.png"/>
          <p:cNvPicPr>
            <a:picLocks noChangeAspect="1"/>
          </p:cNvPicPr>
          <p:nvPr/>
        </p:nvPicPr>
        <p:blipFill>
          <a:blip r:embed="rId2"/>
          <a:stretch>
            <a:fillRect/>
          </a:stretch>
        </p:blipFill>
        <p:spPr>
          <a:xfrm>
            <a:off x="762000" y="2108200"/>
            <a:ext cx="7620000" cy="2258505"/>
          </a:xfrm>
          <a:prstGeom prst="rect">
            <a:avLst/>
          </a:prstGeom>
        </p:spPr>
      </p:pic>
      <p:sp>
        <p:nvSpPr>
          <p:cNvPr id="5" name="TextBox 4"/>
          <p:cNvSpPr txBox="1"/>
          <p:nvPr/>
        </p:nvSpPr>
        <p:spPr>
          <a:xfrm>
            <a:off x="457200" y="4318000"/>
            <a:ext cx="8229600" cy="2413000"/>
          </a:xfrm>
          <a:prstGeom prst="rect">
            <a:avLst/>
          </a:prstGeom>
          <a:noFill/>
        </p:spPr>
        <p:txBody>
          <a:bodyPr wrap="square">
            <a:spAutoFit/>
          </a:bodyPr>
          <a:lstStyle/>
          <a:p>
            <a:r>
              <a:rPr i="0" sz="1100">
                <a:solidFill>
                  <a:srgbClr val="1F2A37"/>
                </a:solidFill>
              </a:rPr>
              <a:t>1. On Home, move to a title with the arrow keys and press OK (or open Libraries / Search from the top navigation).</a:t>
            </a:r>
          </a:p>
          <a:p>
            <a:r>
              <a:rPr i="0" sz="1100">
                <a:solidFill>
                  <a:srgbClr val="1F2A37"/>
                </a:solidFill>
              </a:rPr>
              <a:t>2. The detail page opens. Select Play (or Resume). A series lists its seasons and episodes.</a:t>
            </a:r>
          </a:p>
          <a:p>
            <a:r>
              <a:rPr i="0" sz="1100">
                <a:solidFill>
                  <a:srgbClr val="1F2A37"/>
                </a:solidFill>
              </a:rPr>
              <a:t>3. Playback is full screen. OK / Up / Down show the controls; Left / Right seek 10 s; Down reaches Audio, Subtitles and Chapters. At the end of an episode, Up Next starts the next one.</a:t>
            </a:r>
          </a:p>
          <a:p>
            <a:r>
              <a:rPr i="0" sz="1100">
                <a:solidFill>
                  <a:srgbClr val="1F2A37"/>
                </a:solidFill>
              </a:rPr>
              <a:t>4. RETURN goes back to the detail page, and again to Home. RETURN on Home opens the "Exit OnScreen?" popup: Exit closes the app (Smart Hub), Cancel stays. EXIT closes the app from anywhere.</a:t>
            </a:r>
          </a:p>
          <a:p>
            <a:r>
              <a:rPr i="0" sz="1000">
                <a:solidFill>
                  <a:srgbClr val="555F6B"/>
                </a:solidFill>
              </a:rPr>
              <a:t>Suggested titles: Sintel (subtitle tracks), Big Buck Bunny (two audio tracks), Caminandes (series, Up Next), a Music album, an audiobook (chapters, speed), Photos (OK starts a slideshow).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i="0">
                <a:solidFill>
                  <a:srgbClr val="0E5A7A"/>
                </a:solidFill>
              </a:rPr>
              <a:t>Menu &amp; function description</a:t>
            </a:r>
          </a:p>
        </p:txBody>
      </p:sp>
      <p:sp>
        <p:nvSpPr>
          <p:cNvPr id="3" name="TextBox 2"/>
          <p:cNvSpPr txBox="1"/>
          <p:nvPr/>
        </p:nvSpPr>
        <p:spPr>
          <a:xfrm>
            <a:off x="457200" y="1752600"/>
            <a:ext cx="3810000" cy="279400"/>
          </a:xfrm>
          <a:prstGeom prst="rect">
            <a:avLst/>
          </a:prstGeom>
          <a:noFill/>
        </p:spPr>
        <p:txBody>
          <a:bodyPr wrap="square">
            <a:spAutoFit/>
          </a:bodyPr>
          <a:lstStyle/>
          <a:p>
            <a:r>
              <a:rPr i="0" b="1" sz="1400">
                <a:solidFill>
                  <a:srgbClr val="1F2A37"/>
                </a:solidFill>
              </a:rPr>
              <a:t>- Home</a:t>
            </a:r>
          </a:p>
        </p:txBody>
      </p:sp>
      <p:pic>
        <p:nvPicPr>
          <p:cNvPr id="4" name="Picture 3" descr="menu-home.png"/>
          <p:cNvPicPr>
            <a:picLocks noChangeAspect="1"/>
          </p:cNvPicPr>
          <p:nvPr/>
        </p:nvPicPr>
        <p:blipFill>
          <a:blip r:embed="rId2"/>
          <a:stretch>
            <a:fillRect/>
          </a:stretch>
        </p:blipFill>
        <p:spPr>
          <a:xfrm>
            <a:off x="457200" y="2108200"/>
            <a:ext cx="5207000" cy="2928938"/>
          </a:xfrm>
          <a:prstGeom prst="rect">
            <a:avLst/>
          </a:prstGeom>
        </p:spPr>
      </p:pic>
      <p:graphicFrame>
        <p:nvGraphicFramePr>
          <p:cNvPr id="5" name="Table 4"/>
          <p:cNvGraphicFramePr>
            <a:graphicFrameLocks noGrp="1"/>
          </p:cNvGraphicFramePr>
          <p:nvPr/>
        </p:nvGraphicFramePr>
        <p:xfrm>
          <a:off x="5765800" y="2108200"/>
          <a:ext cx="2997200" cy="914400"/>
        </p:xfrm>
        <a:graphic>
          <a:graphicData uri="http://schemas.openxmlformats.org/drawingml/2006/table">
            <a:tbl>
              <a:tblPr firstRow="1" bandRow="0">
                <a:tableStyleId>{5940675A-B579-460E-94D1-54222C63F5DA}</a:tableStyleId>
              </a:tblPr>
              <a:tblGrid>
                <a:gridCol w="254000"/>
                <a:gridCol w="863600"/>
                <a:gridCol w="1879600"/>
              </a:tblGrid>
              <a:tr h="152400">
                <a:tc>
                  <a:txBody>
                    <a:bodyPr/>
                    <a:lstStyle/>
                    <a:p>
                      <a:r>
                        <a:rPr i="0" b="1" sz="850">
                          <a:solidFill>
                            <a:srgbClr val="1F2A37"/>
                          </a:solidFill>
                        </a:rPr>
                        <a:t>No</a:t>
                      </a:r>
                    </a:p>
                  </a:txBody>
                  <a:tcPr marL="38100" marR="38100" marT="19050" marB="19050">
                    <a:solidFill>
                      <a:srgbClr val="E6E6E6"/>
                    </a:solidFill>
                  </a:tcPr>
                </a:tc>
                <a:tc>
                  <a:txBody>
                    <a:bodyPr/>
                    <a:lstStyle/>
                    <a:p>
                      <a:r>
                        <a:rPr i="0" b="1" sz="850">
                          <a:solidFill>
                            <a:srgbClr val="1F2A37"/>
                          </a:solidFill>
                        </a:rPr>
                        <a:t>Element</a:t>
                      </a:r>
                    </a:p>
                  </a:txBody>
                  <a:tcPr marL="38100" marR="38100" marT="19050" marB="19050">
                    <a:solidFill>
                      <a:srgbClr val="E6E6E6"/>
                    </a:solidFill>
                  </a:tcPr>
                </a:tc>
                <a:tc>
                  <a:txBody>
                    <a:bodyPr/>
                    <a:lstStyle/>
                    <a:p>
                      <a:r>
                        <a:rPr i="0" b="1" sz="850">
                          <a:solidFill>
                            <a:srgbClr val="1F2A37"/>
                          </a:solidFill>
                        </a:rPr>
                        <a:t>Attribute</a:t>
                      </a:r>
                    </a:p>
                  </a:txBody>
                  <a:tcPr marL="38100" marR="38100" marT="19050" marB="19050">
                    <a:solidFill>
                      <a:srgbClr val="E6E6E6"/>
                    </a:solidFill>
                  </a:tcPr>
                </a:tc>
              </a:tr>
              <a:tr h="152400">
                <a:tc>
                  <a:txBody>
                    <a:bodyPr/>
                    <a:lstStyle/>
                    <a:p>
                      <a:r>
                        <a:rPr i="0" b="1" sz="850">
                          <a:solidFill>
                            <a:srgbClr val="1F2A37"/>
                          </a:solidFill>
                        </a:rPr>
                        <a:t>1</a:t>
                      </a:r>
                    </a:p>
                  </a:txBody>
                  <a:tcPr marL="38100" marR="38100" marT="19050" marB="19050">
                    <a:solidFill>
                      <a:srgbClr val="FFFFFF"/>
                    </a:solidFill>
                  </a:tcPr>
                </a:tc>
                <a:tc>
                  <a:txBody>
                    <a:bodyPr/>
                    <a:lstStyle/>
                    <a:p>
                      <a:r>
                        <a:rPr i="0" sz="850">
                          <a:solidFill>
                            <a:srgbClr val="1F2A37"/>
                          </a:solidFill>
                        </a:rPr>
                        <a:t>Top navigation</a:t>
                      </a:r>
                    </a:p>
                  </a:txBody>
                  <a:tcPr marL="38100" marR="38100" marT="19050" marB="19050">
                    <a:solidFill>
                      <a:srgbClr val="FFFFFF"/>
                    </a:solidFill>
                  </a:tcPr>
                </a:tc>
                <a:tc>
                  <a:txBody>
                    <a:bodyPr/>
                    <a:lstStyle/>
                    <a:p>
                      <a:r>
                        <a:rPr i="0" sz="850">
                          <a:solidFill>
                            <a:srgbClr val="1F2A37"/>
                          </a:solidFill>
                        </a:rPr>
                        <a:t>Home, Libraries, Search, Favorites, History, Settings.</a:t>
                      </a:r>
                    </a:p>
                  </a:txBody>
                  <a:tcPr marL="38100" marR="38100" marT="19050" marB="19050">
                    <a:solidFill>
                      <a:srgbClr val="FFFFFF"/>
                    </a:solidFill>
                  </a:tcPr>
                </a:tc>
              </a:tr>
              <a:tr h="152400">
                <a:tc>
                  <a:txBody>
                    <a:bodyPr/>
                    <a:lstStyle/>
                    <a:p>
                      <a:r>
                        <a:rPr i="0" b="1" sz="850">
                          <a:solidFill>
                            <a:srgbClr val="1F2A37"/>
                          </a:solidFill>
                        </a:rPr>
                        <a:t>2</a:t>
                      </a:r>
                    </a:p>
                  </a:txBody>
                  <a:tcPr marL="38100" marR="38100" marT="19050" marB="19050">
                    <a:solidFill>
                      <a:srgbClr val="FFFFFF"/>
                    </a:solidFill>
                  </a:tcPr>
                </a:tc>
                <a:tc>
                  <a:txBody>
                    <a:bodyPr/>
                    <a:lstStyle/>
                    <a:p>
                      <a:r>
                        <a:rPr i="0" sz="850">
                          <a:solidFill>
                            <a:srgbClr val="1F2A37"/>
                          </a:solidFill>
                        </a:rPr>
                        <a:t>Row title</a:t>
                      </a:r>
                    </a:p>
                  </a:txBody>
                  <a:tcPr marL="38100" marR="38100" marT="19050" marB="19050">
                    <a:solidFill>
                      <a:srgbClr val="FFFFFF"/>
                    </a:solidFill>
                  </a:tcPr>
                </a:tc>
                <a:tc>
                  <a:txBody>
                    <a:bodyPr/>
                    <a:lstStyle/>
                    <a:p>
                      <a:r>
                        <a:rPr i="0" sz="850">
                          <a:solidFill>
                            <a:srgbClr val="1F2A37"/>
                          </a:solidFill>
                        </a:rPr>
                        <a:t>Continue Watching (TV, movies, other), Trending, Recently Added, a row per library, Collections.</a:t>
                      </a:r>
                    </a:p>
                  </a:txBody>
                  <a:tcPr marL="38100" marR="38100" marT="19050" marB="19050">
                    <a:solidFill>
                      <a:srgbClr val="FFFFFF"/>
                    </a:solidFill>
                  </a:tcPr>
                </a:tc>
              </a:tr>
              <a:tr h="152400">
                <a:tc>
                  <a:txBody>
                    <a:bodyPr/>
                    <a:lstStyle/>
                    <a:p>
                      <a:r>
                        <a:rPr i="0" b="1" sz="850">
                          <a:solidFill>
                            <a:srgbClr val="1F2A37"/>
                          </a:solidFill>
                        </a:rPr>
                        <a:t>3</a:t>
                      </a:r>
                    </a:p>
                  </a:txBody>
                  <a:tcPr marL="38100" marR="38100" marT="19050" marB="19050">
                    <a:solidFill>
                      <a:srgbClr val="FFFFFF"/>
                    </a:solidFill>
                  </a:tcPr>
                </a:tc>
                <a:tc>
                  <a:txBody>
                    <a:bodyPr/>
                    <a:lstStyle/>
                    <a:p>
                      <a:r>
                        <a:rPr i="0" sz="850">
                          <a:solidFill>
                            <a:srgbClr val="1F2A37"/>
                          </a:solidFill>
                        </a:rPr>
                        <a:t>Focused card</a:t>
                      </a:r>
                    </a:p>
                  </a:txBody>
                  <a:tcPr marL="38100" marR="38100" marT="19050" marB="19050">
                    <a:solidFill>
                      <a:srgbClr val="FFFFFF"/>
                    </a:solidFill>
                  </a:tcPr>
                </a:tc>
                <a:tc>
                  <a:txBody>
                    <a:bodyPr/>
                    <a:lstStyle/>
                    <a:p>
                      <a:r>
                        <a:rPr i="0" sz="850">
                          <a:solidFill>
                            <a:srgbClr val="1F2A37"/>
                          </a:solidFill>
                        </a:rPr>
                        <a:t>The purple frame is the focus. OK opens the title; a Continue Watching card resumes playback.</a:t>
                      </a:r>
                    </a:p>
                  </a:txBody>
                  <a:tcPr marL="38100" marR="38100" marT="19050" marB="19050">
                    <a:solidFill>
                      <a:srgbClr val="FFFFFF"/>
                    </a:solidFill>
                  </a:tcPr>
                </a:tc>
              </a:tr>
              <a:tr h="152400">
                <a:tc>
                  <a:txBody>
                    <a:bodyPr/>
                    <a:lstStyle/>
                    <a:p>
                      <a:r>
                        <a:rPr i="0" b="1" sz="850">
                          <a:solidFill>
                            <a:srgbClr val="1F2A37"/>
                          </a:solidFill>
                        </a:rPr>
                        <a:t>4</a:t>
                      </a:r>
                    </a:p>
                  </a:txBody>
                  <a:tcPr marL="38100" marR="38100" marT="19050" marB="19050">
                    <a:solidFill>
                      <a:srgbClr val="FFFFFF"/>
                    </a:solidFill>
                  </a:tcPr>
                </a:tc>
                <a:tc>
                  <a:txBody>
                    <a:bodyPr/>
                    <a:lstStyle/>
                    <a:p>
                      <a:r>
                        <a:rPr i="0" sz="850">
                          <a:solidFill>
                            <a:srgbClr val="1F2A37"/>
                          </a:solidFill>
                        </a:rPr>
                        <a:t>Hint</a:t>
                      </a:r>
                    </a:p>
                  </a:txBody>
                  <a:tcPr marL="38100" marR="38100" marT="19050" marB="19050">
                    <a:solidFill>
                      <a:srgbClr val="FFFFFF"/>
                    </a:solidFill>
                  </a:tcPr>
                </a:tc>
                <a:tc>
                  <a:txBody>
                    <a:bodyPr/>
                    <a:lstStyle/>
                    <a:p>
                      <a:r>
                        <a:rPr i="0" sz="850">
                          <a:solidFill>
                            <a:srgbClr val="1F2A37"/>
                          </a:solidFill>
                        </a:rPr>
                        <a:t>Hold OK on a Continue Watching card for its options (remove from the row, open).</a:t>
                      </a:r>
                    </a:p>
                  </a:txBody>
                  <a:tcPr marL="38100" marR="38100" marT="19050" marB="19050">
                    <a:solidFill>
                      <a:srgbClr val="FFFFFF"/>
                    </a:solidFill>
                  </a:tcPr>
                </a:tc>
              </a:tr>
              <a:tr h="152400">
                <a:tc>
                  <a:txBody>
                    <a:bodyPr/>
                    <a:lstStyle/>
                    <a:p>
                      <a:r>
                        <a:rPr i="0" b="1" sz="850">
                          <a:solidFill>
                            <a:srgbClr val="1F2A37"/>
                          </a:solidFill>
                        </a:rPr>
                        <a:t>5</a:t>
                      </a:r>
                    </a:p>
                  </a:txBody>
                  <a:tcPr marL="38100" marR="38100" marT="19050" marB="19050">
                    <a:solidFill>
                      <a:srgbClr val="FFFFFF"/>
                    </a:solidFill>
                  </a:tcPr>
                </a:tc>
                <a:tc>
                  <a:txBody>
                    <a:bodyPr/>
                    <a:lstStyle/>
                    <a:p>
                      <a:r>
                        <a:rPr i="0" sz="850">
                          <a:solidFill>
                            <a:srgbClr val="1F2A37"/>
                          </a:solidFill>
                        </a:rPr>
                        <a:t>Trending</a:t>
                      </a:r>
                    </a:p>
                  </a:txBody>
                  <a:tcPr marL="38100" marR="38100" marT="19050" marB="19050">
                    <a:solidFill>
                      <a:srgbClr val="FFFFFF"/>
                    </a:solidFill>
                  </a:tcPr>
                </a:tc>
                <a:tc>
                  <a:txBody>
                    <a:bodyPr/>
                    <a:lstStyle/>
                    <a:p>
                      <a:r>
                        <a:rPr i="0" sz="850">
                          <a:solidFill>
                            <a:srgbClr val="1F2A37"/>
                          </a:solidFill>
                        </a:rPr>
                        <a:t>Titles others on the server watched in the last 7 days.</a:t>
                      </a:r>
                    </a:p>
                  </a:txBody>
                  <a:tcPr marL="38100" marR="38100" marT="19050" marB="19050">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i="0">
                <a:solidFill>
                  <a:srgbClr val="0E5A7A"/>
                </a:solidFill>
              </a:rPr>
              <a:t>Menu &amp; function description</a:t>
            </a:r>
          </a:p>
        </p:txBody>
      </p:sp>
      <p:sp>
        <p:nvSpPr>
          <p:cNvPr id="3" name="TextBox 2"/>
          <p:cNvSpPr txBox="1"/>
          <p:nvPr/>
        </p:nvSpPr>
        <p:spPr>
          <a:xfrm>
            <a:off x="457200" y="1752600"/>
            <a:ext cx="3810000" cy="279400"/>
          </a:xfrm>
          <a:prstGeom prst="rect">
            <a:avLst/>
          </a:prstGeom>
          <a:noFill/>
        </p:spPr>
        <p:txBody>
          <a:bodyPr wrap="square">
            <a:spAutoFit/>
          </a:bodyPr>
          <a:lstStyle/>
          <a:p>
            <a:r>
              <a:rPr i="0" b="1" sz="1400">
                <a:solidFill>
                  <a:srgbClr val="1F2A37"/>
                </a:solidFill>
              </a:rPr>
              <a:t>- Detail (a series)</a:t>
            </a:r>
          </a:p>
        </p:txBody>
      </p:sp>
      <p:pic>
        <p:nvPicPr>
          <p:cNvPr id="4" name="Picture 3" descr="menu-detail.png"/>
          <p:cNvPicPr>
            <a:picLocks noChangeAspect="1"/>
          </p:cNvPicPr>
          <p:nvPr/>
        </p:nvPicPr>
        <p:blipFill>
          <a:blip r:embed="rId2"/>
          <a:stretch>
            <a:fillRect/>
          </a:stretch>
        </p:blipFill>
        <p:spPr>
          <a:xfrm>
            <a:off x="457200" y="2108200"/>
            <a:ext cx="5207000" cy="2928938"/>
          </a:xfrm>
          <a:prstGeom prst="rect">
            <a:avLst/>
          </a:prstGeom>
        </p:spPr>
      </p:pic>
      <p:graphicFrame>
        <p:nvGraphicFramePr>
          <p:cNvPr id="5" name="Table 4"/>
          <p:cNvGraphicFramePr>
            <a:graphicFrameLocks noGrp="1"/>
          </p:cNvGraphicFramePr>
          <p:nvPr/>
        </p:nvGraphicFramePr>
        <p:xfrm>
          <a:off x="5765800" y="2108200"/>
          <a:ext cx="2997200" cy="1066800"/>
        </p:xfrm>
        <a:graphic>
          <a:graphicData uri="http://schemas.openxmlformats.org/drawingml/2006/table">
            <a:tbl>
              <a:tblPr firstRow="1" bandRow="0">
                <a:tableStyleId>{5940675A-B579-460E-94D1-54222C63F5DA}</a:tableStyleId>
              </a:tblPr>
              <a:tblGrid>
                <a:gridCol w="254000"/>
                <a:gridCol w="863600"/>
                <a:gridCol w="1879600"/>
              </a:tblGrid>
              <a:tr h="152400">
                <a:tc>
                  <a:txBody>
                    <a:bodyPr/>
                    <a:lstStyle/>
                    <a:p>
                      <a:r>
                        <a:rPr i="0" b="1" sz="850">
                          <a:solidFill>
                            <a:srgbClr val="1F2A37"/>
                          </a:solidFill>
                        </a:rPr>
                        <a:t>No</a:t>
                      </a:r>
                    </a:p>
                  </a:txBody>
                  <a:tcPr marL="38100" marR="38100" marT="19050" marB="19050">
                    <a:solidFill>
                      <a:srgbClr val="E6E6E6"/>
                    </a:solidFill>
                  </a:tcPr>
                </a:tc>
                <a:tc>
                  <a:txBody>
                    <a:bodyPr/>
                    <a:lstStyle/>
                    <a:p>
                      <a:r>
                        <a:rPr i="0" b="1" sz="850">
                          <a:solidFill>
                            <a:srgbClr val="1F2A37"/>
                          </a:solidFill>
                        </a:rPr>
                        <a:t>Element</a:t>
                      </a:r>
                    </a:p>
                  </a:txBody>
                  <a:tcPr marL="38100" marR="38100" marT="19050" marB="19050">
                    <a:solidFill>
                      <a:srgbClr val="E6E6E6"/>
                    </a:solidFill>
                  </a:tcPr>
                </a:tc>
                <a:tc>
                  <a:txBody>
                    <a:bodyPr/>
                    <a:lstStyle/>
                    <a:p>
                      <a:r>
                        <a:rPr i="0" b="1" sz="850">
                          <a:solidFill>
                            <a:srgbClr val="1F2A37"/>
                          </a:solidFill>
                        </a:rPr>
                        <a:t>Attribute</a:t>
                      </a:r>
                    </a:p>
                  </a:txBody>
                  <a:tcPr marL="38100" marR="38100" marT="19050" marB="19050">
                    <a:solidFill>
                      <a:srgbClr val="E6E6E6"/>
                    </a:solidFill>
                  </a:tcPr>
                </a:tc>
              </a:tr>
              <a:tr h="152400">
                <a:tc>
                  <a:txBody>
                    <a:bodyPr/>
                    <a:lstStyle/>
                    <a:p>
                      <a:r>
                        <a:rPr i="0" b="1" sz="850">
                          <a:solidFill>
                            <a:srgbClr val="1F2A37"/>
                          </a:solidFill>
                        </a:rPr>
                        <a:t>1</a:t>
                      </a:r>
                    </a:p>
                  </a:txBody>
                  <a:tcPr marL="38100" marR="38100" marT="19050" marB="19050">
                    <a:solidFill>
                      <a:srgbClr val="FFFFFF"/>
                    </a:solidFill>
                  </a:tcPr>
                </a:tc>
                <a:tc>
                  <a:txBody>
                    <a:bodyPr/>
                    <a:lstStyle/>
                    <a:p>
                      <a:r>
                        <a:rPr i="0" sz="850">
                          <a:solidFill>
                            <a:srgbClr val="1F2A37"/>
                          </a:solidFill>
                        </a:rPr>
                        <a:t>Poster</a:t>
                      </a:r>
                    </a:p>
                  </a:txBody>
                  <a:tcPr marL="38100" marR="38100" marT="19050" marB="19050">
                    <a:solidFill>
                      <a:srgbClr val="FFFFFF"/>
                    </a:solidFill>
                  </a:tcPr>
                </a:tc>
                <a:tc>
                  <a:txBody>
                    <a:bodyPr/>
                    <a:lstStyle/>
                    <a:p>
                      <a:r>
                        <a:rPr i="0" sz="850">
                          <a:solidFill>
                            <a:srgbClr val="1F2A37"/>
                          </a:solidFill>
                        </a:rPr>
                        <a:t>The title's artwork.</a:t>
                      </a:r>
                    </a:p>
                  </a:txBody>
                  <a:tcPr marL="38100" marR="38100" marT="19050" marB="19050">
                    <a:solidFill>
                      <a:srgbClr val="FFFFFF"/>
                    </a:solidFill>
                  </a:tcPr>
                </a:tc>
              </a:tr>
              <a:tr h="152400">
                <a:tc>
                  <a:txBody>
                    <a:bodyPr/>
                    <a:lstStyle/>
                    <a:p>
                      <a:r>
                        <a:rPr i="0" b="1" sz="850">
                          <a:solidFill>
                            <a:srgbClr val="1F2A37"/>
                          </a:solidFill>
                        </a:rPr>
                        <a:t>2</a:t>
                      </a:r>
                    </a:p>
                  </a:txBody>
                  <a:tcPr marL="38100" marR="38100" marT="19050" marB="19050">
                    <a:solidFill>
                      <a:srgbClr val="FFFFFF"/>
                    </a:solidFill>
                  </a:tcPr>
                </a:tc>
                <a:tc>
                  <a:txBody>
                    <a:bodyPr/>
                    <a:lstStyle/>
                    <a:p>
                      <a:r>
                        <a:rPr i="0" sz="850">
                          <a:solidFill>
                            <a:srgbClr val="1F2A37"/>
                          </a:solidFill>
                        </a:rPr>
                        <a:t>Title</a:t>
                      </a:r>
                    </a:p>
                  </a:txBody>
                  <a:tcPr marL="38100" marR="38100" marT="19050" marB="19050">
                    <a:solidFill>
                      <a:srgbClr val="FFFFFF"/>
                    </a:solidFill>
                  </a:tcPr>
                </a:tc>
                <a:tc>
                  <a:txBody>
                    <a:bodyPr/>
                    <a:lstStyle/>
                    <a:p>
                      <a:r>
                        <a:rPr i="0" sz="850">
                          <a:solidFill>
                            <a:srgbClr val="1F2A37"/>
                          </a:solidFill>
                        </a:rPr>
                        <a:t>Title, year, rating and description.</a:t>
                      </a:r>
                    </a:p>
                  </a:txBody>
                  <a:tcPr marL="38100" marR="38100" marT="19050" marB="19050">
                    <a:solidFill>
                      <a:srgbClr val="FFFFFF"/>
                    </a:solidFill>
                  </a:tcPr>
                </a:tc>
              </a:tr>
              <a:tr h="152400">
                <a:tc>
                  <a:txBody>
                    <a:bodyPr/>
                    <a:lstStyle/>
                    <a:p>
                      <a:r>
                        <a:rPr i="0" b="1" sz="850">
                          <a:solidFill>
                            <a:srgbClr val="1F2A37"/>
                          </a:solidFill>
                        </a:rPr>
                        <a:t>3</a:t>
                      </a:r>
                    </a:p>
                  </a:txBody>
                  <a:tcPr marL="38100" marR="38100" marT="19050" marB="19050">
                    <a:solidFill>
                      <a:srgbClr val="FFFFFF"/>
                    </a:solidFill>
                  </a:tcPr>
                </a:tc>
                <a:tc>
                  <a:txBody>
                    <a:bodyPr/>
                    <a:lstStyle/>
                    <a:p>
                      <a:r>
                        <a:rPr i="0" sz="850">
                          <a:solidFill>
                            <a:srgbClr val="1F2A37"/>
                          </a:solidFill>
                        </a:rPr>
                        <a:t>Play / Resume</a:t>
                      </a:r>
                    </a:p>
                  </a:txBody>
                  <a:tcPr marL="38100" marR="38100" marT="19050" marB="19050">
                    <a:solidFill>
                      <a:srgbClr val="FFFFFF"/>
                    </a:solidFill>
                  </a:tcPr>
                </a:tc>
                <a:tc>
                  <a:txBody>
                    <a:bodyPr/>
                    <a:lstStyle/>
                    <a:p>
                      <a:r>
                        <a:rPr i="0" sz="850">
                          <a:solidFill>
                            <a:srgbClr val="1F2A37"/>
                          </a:solidFill>
                        </a:rPr>
                        <a:t>Plays the next episode, or resumes where the user stopped.</a:t>
                      </a:r>
                    </a:p>
                  </a:txBody>
                  <a:tcPr marL="38100" marR="38100" marT="19050" marB="19050">
                    <a:solidFill>
                      <a:srgbClr val="FFFFFF"/>
                    </a:solidFill>
                  </a:tcPr>
                </a:tc>
              </a:tr>
              <a:tr h="152400">
                <a:tc>
                  <a:txBody>
                    <a:bodyPr/>
                    <a:lstStyle/>
                    <a:p>
                      <a:r>
                        <a:rPr i="0" b="1" sz="850">
                          <a:solidFill>
                            <a:srgbClr val="1F2A37"/>
                          </a:solidFill>
                        </a:rPr>
                        <a:t>4</a:t>
                      </a:r>
                    </a:p>
                  </a:txBody>
                  <a:tcPr marL="38100" marR="38100" marT="19050" marB="19050">
                    <a:solidFill>
                      <a:srgbClr val="FFFFFF"/>
                    </a:solidFill>
                  </a:tcPr>
                </a:tc>
                <a:tc>
                  <a:txBody>
                    <a:bodyPr/>
                    <a:lstStyle/>
                    <a:p>
                      <a:r>
                        <a:rPr i="0" sz="850">
                          <a:solidFill>
                            <a:srgbClr val="1F2A37"/>
                          </a:solidFill>
                        </a:rPr>
                        <a:t>Actions</a:t>
                      </a:r>
                    </a:p>
                  </a:txBody>
                  <a:tcPr marL="38100" marR="38100" marT="19050" marB="19050">
                    <a:solidFill>
                      <a:srgbClr val="FFFFFF"/>
                    </a:solidFill>
                  </a:tcPr>
                </a:tc>
                <a:tc>
                  <a:txBody>
                    <a:bodyPr/>
                    <a:lstStyle/>
                    <a:p>
                      <a:r>
                        <a:rPr i="0" sz="850">
                          <a:solidFill>
                            <a:srgbClr val="1F2A37"/>
                          </a:solidFill>
                        </a:rPr>
                        <a:t>Mark (all) watched, Favorite, Report a problem (a note to the server's administrator).</a:t>
                      </a:r>
                    </a:p>
                  </a:txBody>
                  <a:tcPr marL="38100" marR="38100" marT="19050" marB="19050">
                    <a:solidFill>
                      <a:srgbClr val="FFFFFF"/>
                    </a:solidFill>
                  </a:tcPr>
                </a:tc>
              </a:tr>
              <a:tr h="152400">
                <a:tc>
                  <a:txBody>
                    <a:bodyPr/>
                    <a:lstStyle/>
                    <a:p>
                      <a:r>
                        <a:rPr i="0" b="1" sz="850">
                          <a:solidFill>
                            <a:srgbClr val="1F2A37"/>
                          </a:solidFill>
                        </a:rPr>
                        <a:t>5</a:t>
                      </a:r>
                    </a:p>
                  </a:txBody>
                  <a:tcPr marL="38100" marR="38100" marT="19050" marB="19050">
                    <a:solidFill>
                      <a:srgbClr val="FFFFFF"/>
                    </a:solidFill>
                  </a:tcPr>
                </a:tc>
                <a:tc>
                  <a:txBody>
                    <a:bodyPr/>
                    <a:lstStyle/>
                    <a:p>
                      <a:r>
                        <a:rPr i="0" sz="850">
                          <a:solidFill>
                            <a:srgbClr val="1F2A37"/>
                          </a:solidFill>
                        </a:rPr>
                        <a:t>Seasons</a:t>
                      </a:r>
                    </a:p>
                  </a:txBody>
                  <a:tcPr marL="38100" marR="38100" marT="19050" marB="19050">
                    <a:solidFill>
                      <a:srgbClr val="FFFFFF"/>
                    </a:solidFill>
                  </a:tcPr>
                </a:tc>
                <a:tc>
                  <a:txBody>
                    <a:bodyPr/>
                    <a:lstStyle/>
                    <a:p>
                      <a:r>
                        <a:rPr i="0" sz="850">
                          <a:solidFill>
                            <a:srgbClr val="1F2A37"/>
                          </a:solidFill>
                        </a:rPr>
                        <a:t>Selects the season listed below.</a:t>
                      </a:r>
                    </a:p>
                  </a:txBody>
                  <a:tcPr marL="38100" marR="38100" marT="19050" marB="19050">
                    <a:solidFill>
                      <a:srgbClr val="FFFFFF"/>
                    </a:solidFill>
                  </a:tcPr>
                </a:tc>
              </a:tr>
              <a:tr h="152400">
                <a:tc>
                  <a:txBody>
                    <a:bodyPr/>
                    <a:lstStyle/>
                    <a:p>
                      <a:r>
                        <a:rPr i="0" b="1" sz="850">
                          <a:solidFill>
                            <a:srgbClr val="1F2A37"/>
                          </a:solidFill>
                        </a:rPr>
                        <a:t>6</a:t>
                      </a:r>
                    </a:p>
                  </a:txBody>
                  <a:tcPr marL="38100" marR="38100" marT="19050" marB="19050">
                    <a:solidFill>
                      <a:srgbClr val="FFFFFF"/>
                    </a:solidFill>
                  </a:tcPr>
                </a:tc>
                <a:tc>
                  <a:txBody>
                    <a:bodyPr/>
                    <a:lstStyle/>
                    <a:p>
                      <a:r>
                        <a:rPr i="0" sz="850">
                          <a:solidFill>
                            <a:srgbClr val="1F2A37"/>
                          </a:solidFill>
                        </a:rPr>
                        <a:t>Episodes</a:t>
                      </a:r>
                    </a:p>
                  </a:txBody>
                  <a:tcPr marL="38100" marR="38100" marT="19050" marB="19050">
                    <a:solidFill>
                      <a:srgbClr val="FFFFFF"/>
                    </a:solidFill>
                  </a:tcPr>
                </a:tc>
                <a:tc>
                  <a:txBody>
                    <a:bodyPr/>
                    <a:lstStyle/>
                    <a:p>
                      <a:r>
                        <a:rPr i="0" sz="850">
                          <a:solidFill>
                            <a:srgbClr val="1F2A37"/>
                          </a:solidFill>
                        </a:rPr>
                        <a:t>OK plays the episode; hold OK to mark it watched.</a:t>
                      </a:r>
                    </a:p>
                  </a:txBody>
                  <a:tcPr marL="38100" marR="38100" marT="19050" marB="19050">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i="0">
                <a:solidFill>
                  <a:srgbClr val="0E5A7A"/>
                </a:solidFill>
              </a:rPr>
              <a:t>Menu &amp; function description</a:t>
            </a:r>
          </a:p>
        </p:txBody>
      </p:sp>
      <p:sp>
        <p:nvSpPr>
          <p:cNvPr id="3" name="TextBox 2"/>
          <p:cNvSpPr txBox="1"/>
          <p:nvPr/>
        </p:nvSpPr>
        <p:spPr>
          <a:xfrm>
            <a:off x="457200" y="1752600"/>
            <a:ext cx="3810000" cy="279400"/>
          </a:xfrm>
          <a:prstGeom prst="rect">
            <a:avLst/>
          </a:prstGeom>
          <a:noFill/>
        </p:spPr>
        <p:txBody>
          <a:bodyPr wrap="square">
            <a:spAutoFit/>
          </a:bodyPr>
          <a:lstStyle/>
          <a:p>
            <a:r>
              <a:rPr i="0" b="1" sz="1400">
                <a:solidFill>
                  <a:srgbClr val="1F2A37"/>
                </a:solidFill>
              </a:rPr>
              <a:t>- Library</a:t>
            </a:r>
          </a:p>
        </p:txBody>
      </p:sp>
      <p:pic>
        <p:nvPicPr>
          <p:cNvPr id="4" name="Picture 3" descr="menu-library.png"/>
          <p:cNvPicPr>
            <a:picLocks noChangeAspect="1"/>
          </p:cNvPicPr>
          <p:nvPr/>
        </p:nvPicPr>
        <p:blipFill>
          <a:blip r:embed="rId2"/>
          <a:stretch>
            <a:fillRect/>
          </a:stretch>
        </p:blipFill>
        <p:spPr>
          <a:xfrm>
            <a:off x="457200" y="2108200"/>
            <a:ext cx="5207000" cy="2928938"/>
          </a:xfrm>
          <a:prstGeom prst="rect">
            <a:avLst/>
          </a:prstGeom>
        </p:spPr>
      </p:pic>
      <p:graphicFrame>
        <p:nvGraphicFramePr>
          <p:cNvPr id="5" name="Table 4"/>
          <p:cNvGraphicFramePr>
            <a:graphicFrameLocks noGrp="1"/>
          </p:cNvGraphicFramePr>
          <p:nvPr/>
        </p:nvGraphicFramePr>
        <p:xfrm>
          <a:off x="5765800" y="2108200"/>
          <a:ext cx="2997200" cy="762000"/>
        </p:xfrm>
        <a:graphic>
          <a:graphicData uri="http://schemas.openxmlformats.org/drawingml/2006/table">
            <a:tbl>
              <a:tblPr firstRow="1" bandRow="0">
                <a:tableStyleId>{5940675A-B579-460E-94D1-54222C63F5DA}</a:tableStyleId>
              </a:tblPr>
              <a:tblGrid>
                <a:gridCol w="254000"/>
                <a:gridCol w="863600"/>
                <a:gridCol w="1879600"/>
              </a:tblGrid>
              <a:tr h="152400">
                <a:tc>
                  <a:txBody>
                    <a:bodyPr/>
                    <a:lstStyle/>
                    <a:p>
                      <a:r>
                        <a:rPr i="0" b="1" sz="850">
                          <a:solidFill>
                            <a:srgbClr val="1F2A37"/>
                          </a:solidFill>
                        </a:rPr>
                        <a:t>No</a:t>
                      </a:r>
                    </a:p>
                  </a:txBody>
                  <a:tcPr marL="38100" marR="38100" marT="19050" marB="19050">
                    <a:solidFill>
                      <a:srgbClr val="E6E6E6"/>
                    </a:solidFill>
                  </a:tcPr>
                </a:tc>
                <a:tc>
                  <a:txBody>
                    <a:bodyPr/>
                    <a:lstStyle/>
                    <a:p>
                      <a:r>
                        <a:rPr i="0" b="1" sz="850">
                          <a:solidFill>
                            <a:srgbClr val="1F2A37"/>
                          </a:solidFill>
                        </a:rPr>
                        <a:t>Element</a:t>
                      </a:r>
                    </a:p>
                  </a:txBody>
                  <a:tcPr marL="38100" marR="38100" marT="19050" marB="19050">
                    <a:solidFill>
                      <a:srgbClr val="E6E6E6"/>
                    </a:solidFill>
                  </a:tcPr>
                </a:tc>
                <a:tc>
                  <a:txBody>
                    <a:bodyPr/>
                    <a:lstStyle/>
                    <a:p>
                      <a:r>
                        <a:rPr i="0" b="1" sz="850">
                          <a:solidFill>
                            <a:srgbClr val="1F2A37"/>
                          </a:solidFill>
                        </a:rPr>
                        <a:t>Attribute</a:t>
                      </a:r>
                    </a:p>
                  </a:txBody>
                  <a:tcPr marL="38100" marR="38100" marT="19050" marB="19050">
                    <a:solidFill>
                      <a:srgbClr val="E6E6E6"/>
                    </a:solidFill>
                  </a:tcPr>
                </a:tc>
              </a:tr>
              <a:tr h="152400">
                <a:tc>
                  <a:txBody>
                    <a:bodyPr/>
                    <a:lstStyle/>
                    <a:p>
                      <a:r>
                        <a:rPr i="0" b="1" sz="850">
                          <a:solidFill>
                            <a:srgbClr val="1F2A37"/>
                          </a:solidFill>
                        </a:rPr>
                        <a:t>1</a:t>
                      </a:r>
                    </a:p>
                  </a:txBody>
                  <a:tcPr marL="38100" marR="38100" marT="19050" marB="19050">
                    <a:solidFill>
                      <a:srgbClr val="FFFFFF"/>
                    </a:solidFill>
                  </a:tcPr>
                </a:tc>
                <a:tc>
                  <a:txBody>
                    <a:bodyPr/>
                    <a:lstStyle/>
                    <a:p>
                      <a:r>
                        <a:rPr i="0" sz="850">
                          <a:solidFill>
                            <a:srgbClr val="1F2A37"/>
                          </a:solidFill>
                        </a:rPr>
                        <a:t>Library name</a:t>
                      </a:r>
                    </a:p>
                  </a:txBody>
                  <a:tcPr marL="38100" marR="38100" marT="19050" marB="19050">
                    <a:solidFill>
                      <a:srgbClr val="FFFFFF"/>
                    </a:solidFill>
                  </a:tcPr>
                </a:tc>
                <a:tc>
                  <a:txBody>
                    <a:bodyPr/>
                    <a:lstStyle/>
                    <a:p>
                      <a:r>
                        <a:rPr i="0" sz="850">
                          <a:solidFill>
                            <a:srgbClr val="1F2A37"/>
                          </a:solidFill>
                        </a:rPr>
                        <a:t>The library being browsed (opened from Libraries).</a:t>
                      </a:r>
                    </a:p>
                  </a:txBody>
                  <a:tcPr marL="38100" marR="38100" marT="19050" marB="19050">
                    <a:solidFill>
                      <a:srgbClr val="FFFFFF"/>
                    </a:solidFill>
                  </a:tcPr>
                </a:tc>
              </a:tr>
              <a:tr h="152400">
                <a:tc>
                  <a:txBody>
                    <a:bodyPr/>
                    <a:lstStyle/>
                    <a:p>
                      <a:r>
                        <a:rPr i="0" b="1" sz="850">
                          <a:solidFill>
                            <a:srgbClr val="1F2A37"/>
                          </a:solidFill>
                        </a:rPr>
                        <a:t>2</a:t>
                      </a:r>
                    </a:p>
                  </a:txBody>
                  <a:tcPr marL="38100" marR="38100" marT="19050" marB="19050">
                    <a:solidFill>
                      <a:srgbClr val="FFFFFF"/>
                    </a:solidFill>
                  </a:tcPr>
                </a:tc>
                <a:tc>
                  <a:txBody>
                    <a:bodyPr/>
                    <a:lstStyle/>
                    <a:p>
                      <a:r>
                        <a:rPr i="0" sz="850">
                          <a:solidFill>
                            <a:srgbClr val="1F2A37"/>
                          </a:solidFill>
                        </a:rPr>
                        <a:t>Sort / Genre</a:t>
                      </a:r>
                    </a:p>
                  </a:txBody>
                  <a:tcPr marL="38100" marR="38100" marT="19050" marB="19050">
                    <a:solidFill>
                      <a:srgbClr val="FFFFFF"/>
                    </a:solidFill>
                  </a:tcPr>
                </a:tc>
                <a:tc>
                  <a:txBody>
                    <a:bodyPr/>
                    <a:lstStyle/>
                    <a:p>
                      <a:r>
                        <a:rPr i="0" sz="850">
                          <a:solidFill>
                            <a:srgbClr val="1F2A37"/>
                          </a:solidFill>
                        </a:rPr>
                        <a:t>Changes the order (title, year, added ...) and filters by genre.</a:t>
                      </a:r>
                    </a:p>
                  </a:txBody>
                  <a:tcPr marL="38100" marR="38100" marT="19050" marB="19050">
                    <a:solidFill>
                      <a:srgbClr val="FFFFFF"/>
                    </a:solidFill>
                  </a:tcPr>
                </a:tc>
              </a:tr>
              <a:tr h="152400">
                <a:tc>
                  <a:txBody>
                    <a:bodyPr/>
                    <a:lstStyle/>
                    <a:p>
                      <a:r>
                        <a:rPr i="0" b="1" sz="850">
                          <a:solidFill>
                            <a:srgbClr val="1F2A37"/>
                          </a:solidFill>
                        </a:rPr>
                        <a:t>3</a:t>
                      </a:r>
                    </a:p>
                  </a:txBody>
                  <a:tcPr marL="38100" marR="38100" marT="19050" marB="19050">
                    <a:solidFill>
                      <a:srgbClr val="FFFFFF"/>
                    </a:solidFill>
                  </a:tcPr>
                </a:tc>
                <a:tc>
                  <a:txBody>
                    <a:bodyPr/>
                    <a:lstStyle/>
                    <a:p>
                      <a:r>
                        <a:rPr i="0" sz="850">
                          <a:solidFill>
                            <a:srgbClr val="1F2A37"/>
                          </a:solidFill>
                        </a:rPr>
                        <a:t>Filters</a:t>
                      </a:r>
                    </a:p>
                  </a:txBody>
                  <a:tcPr marL="38100" marR="38100" marT="19050" marB="19050">
                    <a:solidFill>
                      <a:srgbClr val="FFFFFF"/>
                    </a:solidFill>
                  </a:tcPr>
                </a:tc>
                <a:tc>
                  <a:txBody>
                    <a:bodyPr/>
                    <a:lstStyle/>
                    <a:p>
                      <a:r>
                        <a:rPr i="0" sz="850">
                          <a:solidFill>
                            <a:srgbClr val="1F2A37"/>
                          </a:solidFill>
                        </a:rPr>
                        <a:t>All items / Unwatched / In progress / Watched; Surprise me opens a random title.</a:t>
                      </a:r>
                    </a:p>
                  </a:txBody>
                  <a:tcPr marL="38100" marR="38100" marT="19050" marB="19050">
                    <a:solidFill>
                      <a:srgbClr val="FFFFFF"/>
                    </a:solidFill>
                  </a:tcPr>
                </a:tc>
              </a:tr>
              <a:tr h="152400">
                <a:tc>
                  <a:txBody>
                    <a:bodyPr/>
                    <a:lstStyle/>
                    <a:p>
                      <a:r>
                        <a:rPr i="0" b="1" sz="850">
                          <a:solidFill>
                            <a:srgbClr val="1F2A37"/>
                          </a:solidFill>
                        </a:rPr>
                        <a:t>4</a:t>
                      </a:r>
                    </a:p>
                  </a:txBody>
                  <a:tcPr marL="38100" marR="38100" marT="19050" marB="19050">
                    <a:solidFill>
                      <a:srgbClr val="FFFFFF"/>
                    </a:solidFill>
                  </a:tcPr>
                </a:tc>
                <a:tc>
                  <a:txBody>
                    <a:bodyPr/>
                    <a:lstStyle/>
                    <a:p>
                      <a:r>
                        <a:rPr i="0" sz="850">
                          <a:solidFill>
                            <a:srgbClr val="1F2A37"/>
                          </a:solidFill>
                        </a:rPr>
                        <a:t>Focused card</a:t>
                      </a:r>
                    </a:p>
                  </a:txBody>
                  <a:tcPr marL="38100" marR="38100" marT="19050" marB="19050">
                    <a:solidFill>
                      <a:srgbClr val="FFFFFF"/>
                    </a:solidFill>
                  </a:tcPr>
                </a:tc>
                <a:tc>
                  <a:txBody>
                    <a:bodyPr/>
                    <a:lstStyle/>
                    <a:p>
                      <a:r>
                        <a:rPr i="0" sz="850">
                          <a:solidFill>
                            <a:srgbClr val="1F2A37"/>
                          </a:solidFill>
                        </a:rPr>
                        <a:t>OK opens the title. More titles load as the focus moves down.</a:t>
                      </a:r>
                    </a:p>
                  </a:txBody>
                  <a:tcPr marL="38100" marR="38100" marT="19050" marB="19050">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i="0">
                <a:solidFill>
                  <a:srgbClr val="0E5A7A"/>
                </a:solidFill>
              </a:rPr>
              <a:t>Menu &amp; function description</a:t>
            </a:r>
          </a:p>
        </p:txBody>
      </p:sp>
      <p:sp>
        <p:nvSpPr>
          <p:cNvPr id="3" name="TextBox 2"/>
          <p:cNvSpPr txBox="1"/>
          <p:nvPr/>
        </p:nvSpPr>
        <p:spPr>
          <a:xfrm>
            <a:off x="457200" y="1752600"/>
            <a:ext cx="3810000" cy="279400"/>
          </a:xfrm>
          <a:prstGeom prst="rect">
            <a:avLst/>
          </a:prstGeom>
          <a:noFill/>
        </p:spPr>
        <p:txBody>
          <a:bodyPr wrap="square">
            <a:spAutoFit/>
          </a:bodyPr>
          <a:lstStyle/>
          <a:p>
            <a:r>
              <a:rPr i="0" b="1" sz="1400">
                <a:solidFill>
                  <a:srgbClr val="1F2A37"/>
                </a:solidFill>
              </a:rPr>
              <a:t>- Playback</a:t>
            </a:r>
          </a:p>
        </p:txBody>
      </p:sp>
      <p:pic>
        <p:nvPicPr>
          <p:cNvPr id="4" name="Picture 3" descr="menu-playback.png"/>
          <p:cNvPicPr>
            <a:picLocks noChangeAspect="1"/>
          </p:cNvPicPr>
          <p:nvPr/>
        </p:nvPicPr>
        <p:blipFill>
          <a:blip r:embed="rId2"/>
          <a:stretch>
            <a:fillRect/>
          </a:stretch>
        </p:blipFill>
        <p:spPr>
          <a:xfrm>
            <a:off x="457200" y="2108200"/>
            <a:ext cx="5207000" cy="2928938"/>
          </a:xfrm>
          <a:prstGeom prst="rect">
            <a:avLst/>
          </a:prstGeom>
        </p:spPr>
      </p:pic>
      <p:graphicFrame>
        <p:nvGraphicFramePr>
          <p:cNvPr id="5" name="Table 4"/>
          <p:cNvGraphicFramePr>
            <a:graphicFrameLocks noGrp="1"/>
          </p:cNvGraphicFramePr>
          <p:nvPr/>
        </p:nvGraphicFramePr>
        <p:xfrm>
          <a:off x="5765800" y="2108200"/>
          <a:ext cx="2997200" cy="914400"/>
        </p:xfrm>
        <a:graphic>
          <a:graphicData uri="http://schemas.openxmlformats.org/drawingml/2006/table">
            <a:tbl>
              <a:tblPr firstRow="1" bandRow="0">
                <a:tableStyleId>{5940675A-B579-460E-94D1-54222C63F5DA}</a:tableStyleId>
              </a:tblPr>
              <a:tblGrid>
                <a:gridCol w="254000"/>
                <a:gridCol w="863600"/>
                <a:gridCol w="1879600"/>
              </a:tblGrid>
              <a:tr h="152400">
                <a:tc>
                  <a:txBody>
                    <a:bodyPr/>
                    <a:lstStyle/>
                    <a:p>
                      <a:r>
                        <a:rPr i="0" b="1" sz="850">
                          <a:solidFill>
                            <a:srgbClr val="1F2A37"/>
                          </a:solidFill>
                        </a:rPr>
                        <a:t>No</a:t>
                      </a:r>
                    </a:p>
                  </a:txBody>
                  <a:tcPr marL="38100" marR="38100" marT="19050" marB="19050">
                    <a:solidFill>
                      <a:srgbClr val="E6E6E6"/>
                    </a:solidFill>
                  </a:tcPr>
                </a:tc>
                <a:tc>
                  <a:txBody>
                    <a:bodyPr/>
                    <a:lstStyle/>
                    <a:p>
                      <a:r>
                        <a:rPr i="0" b="1" sz="850">
                          <a:solidFill>
                            <a:srgbClr val="1F2A37"/>
                          </a:solidFill>
                        </a:rPr>
                        <a:t>Element</a:t>
                      </a:r>
                    </a:p>
                  </a:txBody>
                  <a:tcPr marL="38100" marR="38100" marT="19050" marB="19050">
                    <a:solidFill>
                      <a:srgbClr val="E6E6E6"/>
                    </a:solidFill>
                  </a:tcPr>
                </a:tc>
                <a:tc>
                  <a:txBody>
                    <a:bodyPr/>
                    <a:lstStyle/>
                    <a:p>
                      <a:r>
                        <a:rPr i="0" b="1" sz="850">
                          <a:solidFill>
                            <a:srgbClr val="1F2A37"/>
                          </a:solidFill>
                        </a:rPr>
                        <a:t>Attribute</a:t>
                      </a:r>
                    </a:p>
                  </a:txBody>
                  <a:tcPr marL="38100" marR="38100" marT="19050" marB="19050">
                    <a:solidFill>
                      <a:srgbClr val="E6E6E6"/>
                    </a:solidFill>
                  </a:tcPr>
                </a:tc>
              </a:tr>
              <a:tr h="152400">
                <a:tc>
                  <a:txBody>
                    <a:bodyPr/>
                    <a:lstStyle/>
                    <a:p>
                      <a:r>
                        <a:rPr i="0" b="1" sz="850">
                          <a:solidFill>
                            <a:srgbClr val="1F2A37"/>
                          </a:solidFill>
                        </a:rPr>
                        <a:t>1</a:t>
                      </a:r>
                    </a:p>
                  </a:txBody>
                  <a:tcPr marL="38100" marR="38100" marT="19050" marB="19050">
                    <a:solidFill>
                      <a:srgbClr val="FFFFFF"/>
                    </a:solidFill>
                  </a:tcPr>
                </a:tc>
                <a:tc>
                  <a:txBody>
                    <a:bodyPr/>
                    <a:lstStyle/>
                    <a:p>
                      <a:r>
                        <a:rPr i="0" sz="850">
                          <a:solidFill>
                            <a:srgbClr val="1F2A37"/>
                          </a:solidFill>
                        </a:rPr>
                        <a:t>Title</a:t>
                      </a:r>
                    </a:p>
                  </a:txBody>
                  <a:tcPr marL="38100" marR="38100" marT="19050" marB="19050">
                    <a:solidFill>
                      <a:srgbClr val="FFFFFF"/>
                    </a:solidFill>
                  </a:tcPr>
                </a:tc>
                <a:tc>
                  <a:txBody>
                    <a:bodyPr/>
                    <a:lstStyle/>
                    <a:p>
                      <a:r>
                        <a:rPr i="0" sz="850">
                          <a:solidFill>
                            <a:srgbClr val="1F2A37"/>
                          </a:solidFill>
                        </a:rPr>
                        <a:t>The title playing.</a:t>
                      </a:r>
                    </a:p>
                  </a:txBody>
                  <a:tcPr marL="38100" marR="38100" marT="19050" marB="19050">
                    <a:solidFill>
                      <a:srgbClr val="FFFFFF"/>
                    </a:solidFill>
                  </a:tcPr>
                </a:tc>
              </a:tr>
              <a:tr h="152400">
                <a:tc>
                  <a:txBody>
                    <a:bodyPr/>
                    <a:lstStyle/>
                    <a:p>
                      <a:r>
                        <a:rPr i="0" b="1" sz="850">
                          <a:solidFill>
                            <a:srgbClr val="1F2A37"/>
                          </a:solidFill>
                        </a:rPr>
                        <a:t>2</a:t>
                      </a:r>
                    </a:p>
                  </a:txBody>
                  <a:tcPr marL="38100" marR="38100" marT="19050" marB="19050">
                    <a:solidFill>
                      <a:srgbClr val="FFFFFF"/>
                    </a:solidFill>
                  </a:tcPr>
                </a:tc>
                <a:tc>
                  <a:txBody>
                    <a:bodyPr/>
                    <a:lstStyle/>
                    <a:p>
                      <a:r>
                        <a:rPr i="0" sz="850">
                          <a:solidFill>
                            <a:srgbClr val="1F2A37"/>
                          </a:solidFill>
                        </a:rPr>
                        <a:t>Play state</a:t>
                      </a:r>
                    </a:p>
                  </a:txBody>
                  <a:tcPr marL="38100" marR="38100" marT="19050" marB="19050">
                    <a:solidFill>
                      <a:srgbClr val="FFFFFF"/>
                    </a:solidFill>
                  </a:tcPr>
                </a:tc>
                <a:tc>
                  <a:txBody>
                    <a:bodyPr/>
                    <a:lstStyle/>
                    <a:p>
                      <a:r>
                        <a:rPr i="0" sz="850">
                          <a:solidFill>
                            <a:srgbClr val="1F2A37"/>
                          </a:solidFill>
                        </a:rPr>
                        <a:t>Playing / paused, or the seek target while seeking.</a:t>
                      </a:r>
                    </a:p>
                  </a:txBody>
                  <a:tcPr marL="38100" marR="38100" marT="19050" marB="19050">
                    <a:solidFill>
                      <a:srgbClr val="FFFFFF"/>
                    </a:solidFill>
                  </a:tcPr>
                </a:tc>
              </a:tr>
              <a:tr h="152400">
                <a:tc>
                  <a:txBody>
                    <a:bodyPr/>
                    <a:lstStyle/>
                    <a:p>
                      <a:r>
                        <a:rPr i="0" b="1" sz="850">
                          <a:solidFill>
                            <a:srgbClr val="1F2A37"/>
                          </a:solidFill>
                        </a:rPr>
                        <a:t>3</a:t>
                      </a:r>
                    </a:p>
                  </a:txBody>
                  <a:tcPr marL="38100" marR="38100" marT="19050" marB="19050">
                    <a:solidFill>
                      <a:srgbClr val="FFFFFF"/>
                    </a:solidFill>
                  </a:tcPr>
                </a:tc>
                <a:tc>
                  <a:txBody>
                    <a:bodyPr/>
                    <a:lstStyle/>
                    <a:p>
                      <a:r>
                        <a:rPr i="0" sz="850">
                          <a:solidFill>
                            <a:srgbClr val="1F2A37"/>
                          </a:solidFill>
                        </a:rPr>
                        <a:t>Progress bar</a:t>
                      </a:r>
                    </a:p>
                  </a:txBody>
                  <a:tcPr marL="38100" marR="38100" marT="19050" marB="19050">
                    <a:solidFill>
                      <a:srgbClr val="FFFFFF"/>
                    </a:solidFill>
                  </a:tcPr>
                </a:tc>
                <a:tc>
                  <a:txBody>
                    <a:bodyPr/>
                    <a:lstStyle/>
                    <a:p>
                      <a:r>
                        <a:rPr i="0" sz="850">
                          <a:solidFill>
                            <a:srgbClr val="1F2A37"/>
                          </a:solidFill>
                        </a:rPr>
                        <a:t>Elapsed and remaining time. Left / Right seek 10 s (with thumbnails while seeking).</a:t>
                      </a:r>
                    </a:p>
                  </a:txBody>
                  <a:tcPr marL="38100" marR="38100" marT="19050" marB="19050">
                    <a:solidFill>
                      <a:srgbClr val="FFFFFF"/>
                    </a:solidFill>
                  </a:tcPr>
                </a:tc>
              </a:tr>
              <a:tr h="152400">
                <a:tc>
                  <a:txBody>
                    <a:bodyPr/>
                    <a:lstStyle/>
                    <a:p>
                      <a:r>
                        <a:rPr i="0" b="1" sz="850">
                          <a:solidFill>
                            <a:srgbClr val="1F2A37"/>
                          </a:solidFill>
                        </a:rPr>
                        <a:t>4</a:t>
                      </a:r>
                    </a:p>
                  </a:txBody>
                  <a:tcPr marL="38100" marR="38100" marT="19050" marB="19050">
                    <a:solidFill>
                      <a:srgbClr val="FFFFFF"/>
                    </a:solidFill>
                  </a:tcPr>
                </a:tc>
                <a:tc>
                  <a:txBody>
                    <a:bodyPr/>
                    <a:lstStyle/>
                    <a:p>
                      <a:r>
                        <a:rPr i="0" sz="850">
                          <a:solidFill>
                            <a:srgbClr val="1F2A37"/>
                          </a:solidFill>
                        </a:rPr>
                        <a:t>Track row</a:t>
                      </a:r>
                    </a:p>
                  </a:txBody>
                  <a:tcPr marL="38100" marR="38100" marT="19050" marB="19050">
                    <a:solidFill>
                      <a:srgbClr val="FFFFFF"/>
                    </a:solidFill>
                  </a:tcPr>
                </a:tc>
                <a:tc>
                  <a:txBody>
                    <a:bodyPr/>
                    <a:lstStyle/>
                    <a:p>
                      <a:r>
                        <a:rPr i="0" sz="850">
                          <a:solidFill>
                            <a:srgbClr val="1F2A37"/>
                          </a:solidFill>
                        </a:rPr>
                        <a:t>Audio, Subtitles and Chapters pickers, when the title has them. Down moves here.</a:t>
                      </a:r>
                    </a:p>
                  </a:txBody>
                  <a:tcPr marL="38100" marR="38100" marT="19050" marB="19050">
                    <a:solidFill>
                      <a:srgbClr val="FFFFFF"/>
                    </a:solidFill>
                  </a:tcPr>
                </a:tc>
              </a:tr>
              <a:tr h="152400">
                <a:tc>
                  <a:txBody>
                    <a:bodyPr/>
                    <a:lstStyle/>
                    <a:p>
                      <a:r>
                        <a:rPr i="0" b="1" sz="850">
                          <a:solidFill>
                            <a:srgbClr val="1F2A37"/>
                          </a:solidFill>
                        </a:rPr>
                        <a:t>5</a:t>
                      </a:r>
                    </a:p>
                  </a:txBody>
                  <a:tcPr marL="38100" marR="38100" marT="19050" marB="19050">
                    <a:solidFill>
                      <a:srgbClr val="FFFFFF"/>
                    </a:solidFill>
                  </a:tcPr>
                </a:tc>
                <a:tc>
                  <a:txBody>
                    <a:bodyPr/>
                    <a:lstStyle/>
                    <a:p>
                      <a:r>
                        <a:rPr i="0" sz="850">
                          <a:solidFill>
                            <a:srgbClr val="1F2A37"/>
                          </a:solidFill>
                        </a:rPr>
                        <a:t>Key help</a:t>
                      </a:r>
                    </a:p>
                  </a:txBody>
                  <a:tcPr marL="38100" marR="38100" marT="19050" marB="19050">
                    <a:solidFill>
                      <a:srgbClr val="FFFFFF"/>
                    </a:solidFill>
                  </a:tcPr>
                </a:tc>
                <a:tc>
                  <a:txBody>
                    <a:bodyPr/>
                    <a:lstStyle/>
                    <a:p>
                      <a:r>
                        <a:rPr i="0" sz="850">
                          <a:solidFill>
                            <a:srgbClr val="1F2A37"/>
                          </a:solidFill>
                        </a:rPr>
                        <a:t>The remote keys this screen uses.</a:t>
                      </a:r>
                    </a:p>
                  </a:txBody>
                  <a:tcPr marL="38100" marR="38100" marT="19050" marB="19050">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i="0">
                <a:solidFill>
                  <a:srgbClr val="0E5A7A"/>
                </a:solidFill>
              </a:rPr>
              <a:t>Menu &amp; function description</a:t>
            </a:r>
          </a:p>
        </p:txBody>
      </p:sp>
      <p:sp>
        <p:nvSpPr>
          <p:cNvPr id="3" name="TextBox 2"/>
          <p:cNvSpPr txBox="1"/>
          <p:nvPr/>
        </p:nvSpPr>
        <p:spPr>
          <a:xfrm>
            <a:off x="457200" y="1752600"/>
            <a:ext cx="3810000" cy="279400"/>
          </a:xfrm>
          <a:prstGeom prst="rect">
            <a:avLst/>
          </a:prstGeom>
          <a:noFill/>
        </p:spPr>
        <p:txBody>
          <a:bodyPr wrap="square">
            <a:spAutoFit/>
          </a:bodyPr>
          <a:lstStyle/>
          <a:p>
            <a:r>
              <a:rPr i="0" b="1" sz="1400">
                <a:solidFill>
                  <a:srgbClr val="1F2A37"/>
                </a:solidFill>
              </a:rPr>
              <a:t>- Music</a:t>
            </a:r>
          </a:p>
        </p:txBody>
      </p:sp>
      <p:pic>
        <p:nvPicPr>
          <p:cNvPr id="4" name="Picture 3" descr="menu-music.png"/>
          <p:cNvPicPr>
            <a:picLocks noChangeAspect="1"/>
          </p:cNvPicPr>
          <p:nvPr/>
        </p:nvPicPr>
        <p:blipFill>
          <a:blip r:embed="rId2"/>
          <a:stretch>
            <a:fillRect/>
          </a:stretch>
        </p:blipFill>
        <p:spPr>
          <a:xfrm>
            <a:off x="457200" y="2108200"/>
            <a:ext cx="5207000" cy="2928938"/>
          </a:xfrm>
          <a:prstGeom prst="rect">
            <a:avLst/>
          </a:prstGeom>
        </p:spPr>
      </p:pic>
      <p:graphicFrame>
        <p:nvGraphicFramePr>
          <p:cNvPr id="5" name="Table 4"/>
          <p:cNvGraphicFramePr>
            <a:graphicFrameLocks noGrp="1"/>
          </p:cNvGraphicFramePr>
          <p:nvPr/>
        </p:nvGraphicFramePr>
        <p:xfrm>
          <a:off x="5765800" y="2108200"/>
          <a:ext cx="2997200" cy="1066800"/>
        </p:xfrm>
        <a:graphic>
          <a:graphicData uri="http://schemas.openxmlformats.org/drawingml/2006/table">
            <a:tbl>
              <a:tblPr firstRow="1" bandRow="0">
                <a:tableStyleId>{5940675A-B579-460E-94D1-54222C63F5DA}</a:tableStyleId>
              </a:tblPr>
              <a:tblGrid>
                <a:gridCol w="254000"/>
                <a:gridCol w="863600"/>
                <a:gridCol w="1879600"/>
              </a:tblGrid>
              <a:tr h="152400">
                <a:tc>
                  <a:txBody>
                    <a:bodyPr/>
                    <a:lstStyle/>
                    <a:p>
                      <a:r>
                        <a:rPr i="0" b="1" sz="850">
                          <a:solidFill>
                            <a:srgbClr val="1F2A37"/>
                          </a:solidFill>
                        </a:rPr>
                        <a:t>No</a:t>
                      </a:r>
                    </a:p>
                  </a:txBody>
                  <a:tcPr marL="38100" marR="38100" marT="19050" marB="19050">
                    <a:solidFill>
                      <a:srgbClr val="E6E6E6"/>
                    </a:solidFill>
                  </a:tcPr>
                </a:tc>
                <a:tc>
                  <a:txBody>
                    <a:bodyPr/>
                    <a:lstStyle/>
                    <a:p>
                      <a:r>
                        <a:rPr i="0" b="1" sz="850">
                          <a:solidFill>
                            <a:srgbClr val="1F2A37"/>
                          </a:solidFill>
                        </a:rPr>
                        <a:t>Element</a:t>
                      </a:r>
                    </a:p>
                  </a:txBody>
                  <a:tcPr marL="38100" marR="38100" marT="19050" marB="19050">
                    <a:solidFill>
                      <a:srgbClr val="E6E6E6"/>
                    </a:solidFill>
                  </a:tcPr>
                </a:tc>
                <a:tc>
                  <a:txBody>
                    <a:bodyPr/>
                    <a:lstStyle/>
                    <a:p>
                      <a:r>
                        <a:rPr i="0" b="1" sz="850">
                          <a:solidFill>
                            <a:srgbClr val="1F2A37"/>
                          </a:solidFill>
                        </a:rPr>
                        <a:t>Attribute</a:t>
                      </a:r>
                    </a:p>
                  </a:txBody>
                  <a:tcPr marL="38100" marR="38100" marT="19050" marB="19050">
                    <a:solidFill>
                      <a:srgbClr val="E6E6E6"/>
                    </a:solidFill>
                  </a:tcPr>
                </a:tc>
              </a:tr>
              <a:tr h="152400">
                <a:tc>
                  <a:txBody>
                    <a:bodyPr/>
                    <a:lstStyle/>
                    <a:p>
                      <a:r>
                        <a:rPr i="0" b="1" sz="850">
                          <a:solidFill>
                            <a:srgbClr val="1F2A37"/>
                          </a:solidFill>
                        </a:rPr>
                        <a:t>1</a:t>
                      </a:r>
                    </a:p>
                  </a:txBody>
                  <a:tcPr marL="38100" marR="38100" marT="19050" marB="19050">
                    <a:solidFill>
                      <a:srgbClr val="FFFFFF"/>
                    </a:solidFill>
                  </a:tcPr>
                </a:tc>
                <a:tc>
                  <a:txBody>
                    <a:bodyPr/>
                    <a:lstStyle/>
                    <a:p>
                      <a:r>
                        <a:rPr i="0" sz="850">
                          <a:solidFill>
                            <a:srgbClr val="1F2A37"/>
                          </a:solidFill>
                        </a:rPr>
                        <a:t>Album art</a:t>
                      </a:r>
                    </a:p>
                  </a:txBody>
                  <a:tcPr marL="38100" marR="38100" marT="19050" marB="19050">
                    <a:solidFill>
                      <a:srgbClr val="FFFFFF"/>
                    </a:solidFill>
                  </a:tcPr>
                </a:tc>
                <a:tc>
                  <a:txBody>
                    <a:bodyPr/>
                    <a:lstStyle/>
                    <a:p>
                      <a:r>
                        <a:rPr i="0" sz="850">
                          <a:solidFill>
                            <a:srgbClr val="1F2A37"/>
                          </a:solidFill>
                        </a:rPr>
                        <a:t>The album's cover.</a:t>
                      </a:r>
                    </a:p>
                  </a:txBody>
                  <a:tcPr marL="38100" marR="38100" marT="19050" marB="19050">
                    <a:solidFill>
                      <a:srgbClr val="FFFFFF"/>
                    </a:solidFill>
                  </a:tcPr>
                </a:tc>
              </a:tr>
              <a:tr h="152400">
                <a:tc>
                  <a:txBody>
                    <a:bodyPr/>
                    <a:lstStyle/>
                    <a:p>
                      <a:r>
                        <a:rPr i="0" b="1" sz="850">
                          <a:solidFill>
                            <a:srgbClr val="1F2A37"/>
                          </a:solidFill>
                        </a:rPr>
                        <a:t>2</a:t>
                      </a:r>
                    </a:p>
                  </a:txBody>
                  <a:tcPr marL="38100" marR="38100" marT="19050" marB="19050">
                    <a:solidFill>
                      <a:srgbClr val="FFFFFF"/>
                    </a:solidFill>
                  </a:tcPr>
                </a:tc>
                <a:tc>
                  <a:txBody>
                    <a:bodyPr/>
                    <a:lstStyle/>
                    <a:p>
                      <a:r>
                        <a:rPr i="0" sz="850">
                          <a:solidFill>
                            <a:srgbClr val="1F2A37"/>
                          </a:solidFill>
                        </a:rPr>
                        <a:t>Track title</a:t>
                      </a:r>
                    </a:p>
                  </a:txBody>
                  <a:tcPr marL="38100" marR="38100" marT="19050" marB="19050">
                    <a:solidFill>
                      <a:srgbClr val="FFFFFF"/>
                    </a:solidFill>
                  </a:tcPr>
                </a:tc>
                <a:tc>
                  <a:txBody>
                    <a:bodyPr/>
                    <a:lstStyle/>
                    <a:p>
                      <a:r>
                        <a:rPr i="0" sz="850">
                          <a:solidFill>
                            <a:srgbClr val="1F2A37"/>
                          </a:solidFill>
                        </a:rPr>
                        <a:t>The track playing.</a:t>
                      </a:r>
                    </a:p>
                  </a:txBody>
                  <a:tcPr marL="38100" marR="38100" marT="19050" marB="19050">
                    <a:solidFill>
                      <a:srgbClr val="FFFFFF"/>
                    </a:solidFill>
                  </a:tcPr>
                </a:tc>
              </a:tr>
              <a:tr h="152400">
                <a:tc>
                  <a:txBody>
                    <a:bodyPr/>
                    <a:lstStyle/>
                    <a:p>
                      <a:r>
                        <a:rPr i="0" b="1" sz="850">
                          <a:solidFill>
                            <a:srgbClr val="1F2A37"/>
                          </a:solidFill>
                        </a:rPr>
                        <a:t>3</a:t>
                      </a:r>
                    </a:p>
                  </a:txBody>
                  <a:tcPr marL="38100" marR="38100" marT="19050" marB="19050">
                    <a:solidFill>
                      <a:srgbClr val="FFFFFF"/>
                    </a:solidFill>
                  </a:tcPr>
                </a:tc>
                <a:tc>
                  <a:txBody>
                    <a:bodyPr/>
                    <a:lstStyle/>
                    <a:p>
                      <a:r>
                        <a:rPr i="0" sz="850">
                          <a:solidFill>
                            <a:srgbClr val="1F2A37"/>
                          </a:solidFill>
                        </a:rPr>
                        <a:t>Artist / Album</a:t>
                      </a:r>
                    </a:p>
                  </a:txBody>
                  <a:tcPr marL="38100" marR="38100" marT="19050" marB="19050">
                    <a:solidFill>
                      <a:srgbClr val="FFFFFF"/>
                    </a:solidFill>
                  </a:tcPr>
                </a:tc>
                <a:tc>
                  <a:txBody>
                    <a:bodyPr/>
                    <a:lstStyle/>
                    <a:p>
                      <a:r>
                        <a:rPr i="0" sz="850">
                          <a:solidFill>
                            <a:srgbClr val="1F2A37"/>
                          </a:solidFill>
                        </a:rPr>
                        <a:t>Artist and album.</a:t>
                      </a:r>
                    </a:p>
                  </a:txBody>
                  <a:tcPr marL="38100" marR="38100" marT="19050" marB="19050">
                    <a:solidFill>
                      <a:srgbClr val="FFFFFF"/>
                    </a:solidFill>
                  </a:tcPr>
                </a:tc>
              </a:tr>
              <a:tr h="152400">
                <a:tc>
                  <a:txBody>
                    <a:bodyPr/>
                    <a:lstStyle/>
                    <a:p>
                      <a:r>
                        <a:rPr i="0" b="1" sz="850">
                          <a:solidFill>
                            <a:srgbClr val="1F2A37"/>
                          </a:solidFill>
                        </a:rPr>
                        <a:t>4</a:t>
                      </a:r>
                    </a:p>
                  </a:txBody>
                  <a:tcPr marL="38100" marR="38100" marT="19050" marB="19050">
                    <a:solidFill>
                      <a:srgbClr val="FFFFFF"/>
                    </a:solidFill>
                  </a:tcPr>
                </a:tc>
                <a:tc>
                  <a:txBody>
                    <a:bodyPr/>
                    <a:lstStyle/>
                    <a:p>
                      <a:r>
                        <a:rPr i="0" sz="850">
                          <a:solidFill>
                            <a:srgbClr val="1F2A37"/>
                          </a:solidFill>
                        </a:rPr>
                        <a:t>Track / state</a:t>
                      </a:r>
                    </a:p>
                  </a:txBody>
                  <a:tcPr marL="38100" marR="38100" marT="19050" marB="19050">
                    <a:solidFill>
                      <a:srgbClr val="FFFFFF"/>
                    </a:solidFill>
                  </a:tcPr>
                </a:tc>
                <a:tc>
                  <a:txBody>
                    <a:bodyPr/>
                    <a:lstStyle/>
                    <a:p>
                      <a:r>
                        <a:rPr i="0" sz="850">
                          <a:solidFill>
                            <a:srgbClr val="1F2A37"/>
                          </a:solidFill>
                        </a:rPr>
                        <a:t>Track number in the album, and playing / paused.</a:t>
                      </a:r>
                    </a:p>
                  </a:txBody>
                  <a:tcPr marL="38100" marR="38100" marT="19050" marB="19050">
                    <a:solidFill>
                      <a:srgbClr val="FFFFFF"/>
                    </a:solidFill>
                  </a:tcPr>
                </a:tc>
              </a:tr>
              <a:tr h="152400">
                <a:tc>
                  <a:txBody>
                    <a:bodyPr/>
                    <a:lstStyle/>
                    <a:p>
                      <a:r>
                        <a:rPr i="0" b="1" sz="850">
                          <a:solidFill>
                            <a:srgbClr val="1F2A37"/>
                          </a:solidFill>
                        </a:rPr>
                        <a:t>5</a:t>
                      </a:r>
                    </a:p>
                  </a:txBody>
                  <a:tcPr marL="38100" marR="38100" marT="19050" marB="19050">
                    <a:solidFill>
                      <a:srgbClr val="FFFFFF"/>
                    </a:solidFill>
                  </a:tcPr>
                </a:tc>
                <a:tc>
                  <a:txBody>
                    <a:bodyPr/>
                    <a:lstStyle/>
                    <a:p>
                      <a:r>
                        <a:rPr i="0" sz="850">
                          <a:solidFill>
                            <a:srgbClr val="1F2A37"/>
                          </a:solidFill>
                        </a:rPr>
                        <a:t>Progress bar</a:t>
                      </a:r>
                    </a:p>
                  </a:txBody>
                  <a:tcPr marL="38100" marR="38100" marT="19050" marB="19050">
                    <a:solidFill>
                      <a:srgbClr val="FFFFFF"/>
                    </a:solidFill>
                  </a:tcPr>
                </a:tc>
                <a:tc>
                  <a:txBody>
                    <a:bodyPr/>
                    <a:lstStyle/>
                    <a:p>
                      <a:r>
                        <a:rPr i="0" sz="850">
                          <a:solidFill>
                            <a:srgbClr val="1F2A37"/>
                          </a:solidFill>
                        </a:rPr>
                        <a:t>Elapsed and remaining time; the next track starts by itself.</a:t>
                      </a:r>
                    </a:p>
                  </a:txBody>
                  <a:tcPr marL="38100" marR="38100" marT="19050" marB="19050">
                    <a:solidFill>
                      <a:srgbClr val="FFFFFF"/>
                    </a:solidFill>
                  </a:tcPr>
                </a:tc>
              </a:tr>
              <a:tr h="152400">
                <a:tc>
                  <a:txBody>
                    <a:bodyPr/>
                    <a:lstStyle/>
                    <a:p>
                      <a:r>
                        <a:rPr i="0" b="1" sz="850">
                          <a:solidFill>
                            <a:srgbClr val="1F2A37"/>
                          </a:solidFill>
                        </a:rPr>
                        <a:t>6</a:t>
                      </a:r>
                    </a:p>
                  </a:txBody>
                  <a:tcPr marL="38100" marR="38100" marT="19050" marB="19050">
                    <a:solidFill>
                      <a:srgbClr val="FFFFFF"/>
                    </a:solidFill>
                  </a:tcPr>
                </a:tc>
                <a:tc>
                  <a:txBody>
                    <a:bodyPr/>
                    <a:lstStyle/>
                    <a:p>
                      <a:r>
                        <a:rPr i="0" sz="850">
                          <a:solidFill>
                            <a:srgbClr val="1F2A37"/>
                          </a:solidFill>
                        </a:rPr>
                        <a:t>Key help</a:t>
                      </a:r>
                    </a:p>
                  </a:txBody>
                  <a:tcPr marL="38100" marR="38100" marT="19050" marB="19050">
                    <a:solidFill>
                      <a:srgbClr val="FFFFFF"/>
                    </a:solidFill>
                  </a:tcPr>
                </a:tc>
                <a:tc>
                  <a:txBody>
                    <a:bodyPr/>
                    <a:lstStyle/>
                    <a:p>
                      <a:r>
                        <a:rPr i="0" sz="850">
                          <a:solidFill>
                            <a:srgbClr val="1F2A37"/>
                          </a:solidFill>
                        </a:rPr>
                        <a:t>OK play/pause, Left/Right seek 10 s, CH / FF / REW previous and next track, RETURN exits.</a:t>
                      </a:r>
                    </a:p>
                  </a:txBody>
                  <a:tcPr marL="38100" marR="38100" marT="19050" marB="19050">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i="0">
                <a:solidFill>
                  <a:srgbClr val="0E5A7A"/>
                </a:solidFill>
              </a:rPr>
              <a:t>Menu &amp; function description</a:t>
            </a:r>
          </a:p>
        </p:txBody>
      </p:sp>
      <p:sp>
        <p:nvSpPr>
          <p:cNvPr id="3" name="TextBox 2"/>
          <p:cNvSpPr txBox="1"/>
          <p:nvPr/>
        </p:nvSpPr>
        <p:spPr>
          <a:xfrm>
            <a:off x="457200" y="1752600"/>
            <a:ext cx="3810000" cy="279400"/>
          </a:xfrm>
          <a:prstGeom prst="rect">
            <a:avLst/>
          </a:prstGeom>
          <a:noFill/>
        </p:spPr>
        <p:txBody>
          <a:bodyPr wrap="square">
            <a:spAutoFit/>
          </a:bodyPr>
          <a:lstStyle/>
          <a:p>
            <a:r>
              <a:rPr i="0" b="1" sz="1400">
                <a:solidFill>
                  <a:srgbClr val="1F2A37"/>
                </a:solidFill>
              </a:rPr>
              <a:t>- Other screens</a:t>
            </a:r>
          </a:p>
        </p:txBody>
      </p:sp>
      <p:graphicFrame>
        <p:nvGraphicFramePr>
          <p:cNvPr id="4" name="Table 3"/>
          <p:cNvGraphicFramePr>
            <a:graphicFrameLocks noGrp="1"/>
          </p:cNvGraphicFramePr>
          <p:nvPr/>
        </p:nvGraphicFramePr>
        <p:xfrm>
          <a:off x="457200" y="2108200"/>
          <a:ext cx="8229600" cy="2438400"/>
        </p:xfrm>
        <a:graphic>
          <a:graphicData uri="http://schemas.openxmlformats.org/drawingml/2006/table">
            <a:tbl>
              <a:tblPr firstRow="1" bandRow="0">
                <a:tableStyleId>{5940675A-B579-460E-94D1-54222C63F5DA}</a:tableStyleId>
              </a:tblPr>
              <a:tblGrid>
                <a:gridCol w="1397000"/>
                <a:gridCol w="6832600"/>
              </a:tblGrid>
              <a:tr h="304800">
                <a:tc>
                  <a:txBody>
                    <a:bodyPr/>
                    <a:lstStyle/>
                    <a:p>
                      <a:r>
                        <a:rPr i="0" b="1" sz="1000">
                          <a:solidFill>
                            <a:srgbClr val="1F2A37"/>
                          </a:solidFill>
                        </a:rPr>
                        <a:t>Screen</a:t>
                      </a:r>
                    </a:p>
                  </a:txBody>
                  <a:tcPr marL="38100" marR="38100" marT="19050" marB="19050">
                    <a:solidFill>
                      <a:srgbClr val="E6E6E6"/>
                    </a:solidFill>
                  </a:tcPr>
                </a:tc>
                <a:tc>
                  <a:txBody>
                    <a:bodyPr/>
                    <a:lstStyle/>
                    <a:p>
                      <a:r>
                        <a:rPr i="0" b="1" sz="1000">
                          <a:solidFill>
                            <a:srgbClr val="1F2A37"/>
                          </a:solidFill>
                        </a:rPr>
                        <a:t>Function</a:t>
                      </a:r>
                    </a:p>
                  </a:txBody>
                  <a:tcPr marL="38100" marR="38100" marT="19050" marB="19050">
                    <a:solidFill>
                      <a:srgbClr val="E6E6E6"/>
                    </a:solidFill>
                  </a:tcPr>
                </a:tc>
              </a:tr>
              <a:tr h="304800">
                <a:tc>
                  <a:txBody>
                    <a:bodyPr/>
                    <a:lstStyle/>
                    <a:p>
                      <a:r>
                        <a:rPr i="0" sz="1000">
                          <a:solidFill>
                            <a:srgbClr val="1F2A37"/>
                          </a:solidFill>
                        </a:rPr>
                        <a:t>Search</a:t>
                      </a:r>
                    </a:p>
                  </a:txBody>
                  <a:tcPr marL="38100" marR="38100" marT="19050" marB="19050">
                    <a:solidFill>
                      <a:srgbClr val="FFFFFF"/>
                    </a:solidFill>
                  </a:tcPr>
                </a:tc>
                <a:tc>
                  <a:txBody>
                    <a:bodyPr/>
                    <a:lstStyle/>
                    <a:p>
                      <a:r>
                        <a:rPr i="0" sz="1000">
                          <a:solidFill>
                            <a:srgbClr val="1F2A37"/>
                          </a:solidFill>
                        </a:rPr>
                        <a:t>On-screen keyboard; results from the user's own libraries. OK opens a result; RETURN keeps the query.</a:t>
                      </a:r>
                    </a:p>
                  </a:txBody>
                  <a:tcPr marL="38100" marR="38100" marT="19050" marB="19050">
                    <a:solidFill>
                      <a:srgbClr val="FFFFFF"/>
                    </a:solidFill>
                  </a:tcPr>
                </a:tc>
              </a:tr>
              <a:tr h="304800">
                <a:tc>
                  <a:txBody>
                    <a:bodyPr/>
                    <a:lstStyle/>
                    <a:p>
                      <a:r>
                        <a:rPr i="0" sz="1000">
                          <a:solidFill>
                            <a:srgbClr val="1F2A37"/>
                          </a:solidFill>
                        </a:rPr>
                        <a:t>Favorites</a:t>
                      </a:r>
                    </a:p>
                  </a:txBody>
                  <a:tcPr marL="38100" marR="38100" marT="19050" marB="19050">
                    <a:solidFill>
                      <a:srgbClr val="FFFFFF"/>
                    </a:solidFill>
                  </a:tcPr>
                </a:tc>
                <a:tc>
                  <a:txBody>
                    <a:bodyPr/>
                    <a:lstStyle/>
                    <a:p>
                      <a:r>
                        <a:rPr i="0" sz="1000">
                          <a:solidFill>
                            <a:srgbClr val="1F2A37"/>
                          </a:solidFill>
                        </a:rPr>
                        <a:t>Titles marked with Favorite. OK opens one.</a:t>
                      </a:r>
                    </a:p>
                  </a:txBody>
                  <a:tcPr marL="38100" marR="38100" marT="19050" marB="19050">
                    <a:solidFill>
                      <a:srgbClr val="FFFFFF"/>
                    </a:solidFill>
                  </a:tcPr>
                </a:tc>
              </a:tr>
              <a:tr h="304800">
                <a:tc>
                  <a:txBody>
                    <a:bodyPr/>
                    <a:lstStyle/>
                    <a:p>
                      <a:r>
                        <a:rPr i="0" sz="1000">
                          <a:solidFill>
                            <a:srgbClr val="1F2A37"/>
                          </a:solidFill>
                        </a:rPr>
                        <a:t>History</a:t>
                      </a:r>
                    </a:p>
                  </a:txBody>
                  <a:tcPr marL="38100" marR="38100" marT="19050" marB="19050">
                    <a:solidFill>
                      <a:srgbClr val="FFFFFF"/>
                    </a:solidFill>
                  </a:tcPr>
                </a:tc>
                <a:tc>
                  <a:txBody>
                    <a:bodyPr/>
                    <a:lstStyle/>
                    <a:p>
                      <a:r>
                        <a:rPr i="0" sz="1000">
                          <a:solidFill>
                            <a:srgbClr val="1F2A37"/>
                          </a:solidFill>
                        </a:rPr>
                        <a:t>What was played recently. OK opens the title.</a:t>
                      </a:r>
                    </a:p>
                  </a:txBody>
                  <a:tcPr marL="38100" marR="38100" marT="19050" marB="19050">
                    <a:solidFill>
                      <a:srgbClr val="FFFFFF"/>
                    </a:solidFill>
                  </a:tcPr>
                </a:tc>
              </a:tr>
              <a:tr h="304800">
                <a:tc>
                  <a:txBody>
                    <a:bodyPr/>
                    <a:lstStyle/>
                    <a:p>
                      <a:r>
                        <a:rPr i="0" sz="1000">
                          <a:solidFill>
                            <a:srgbClr val="1F2A37"/>
                          </a:solidFill>
                        </a:rPr>
                        <a:t>Photo viewer</a:t>
                      </a:r>
                    </a:p>
                  </a:txBody>
                  <a:tcPr marL="38100" marR="38100" marT="19050" marB="19050">
                    <a:solidFill>
                      <a:srgbClr val="FFFFFF"/>
                    </a:solidFill>
                  </a:tcPr>
                </a:tc>
                <a:tc>
                  <a:txBody>
                    <a:bodyPr/>
                    <a:lstStyle/>
                    <a:p>
                      <a:r>
                        <a:rPr i="0" sz="1000">
                          <a:solidFill>
                            <a:srgbClr val="1F2A37"/>
                          </a:solidFill>
                        </a:rPr>
                        <a:t>Full-screen photo. Left / Right: previous / next photo in the album. OK or PLAY: start / stop the slideshow.</a:t>
                      </a:r>
                    </a:p>
                  </a:txBody>
                  <a:tcPr marL="38100" marR="38100" marT="19050" marB="19050">
                    <a:solidFill>
                      <a:srgbClr val="FFFFFF"/>
                    </a:solidFill>
                  </a:tcPr>
                </a:tc>
              </a:tr>
              <a:tr h="304800">
                <a:tc>
                  <a:txBody>
                    <a:bodyPr/>
                    <a:lstStyle/>
                    <a:p>
                      <a:r>
                        <a:rPr i="0" sz="1000">
                          <a:solidFill>
                            <a:srgbClr val="1F2A37"/>
                          </a:solidFill>
                        </a:rPr>
                        <a:t>Audiobook player</a:t>
                      </a:r>
                    </a:p>
                  </a:txBody>
                  <a:tcPr marL="38100" marR="38100" marT="19050" marB="19050">
                    <a:solidFill>
                      <a:srgbClr val="FFFFFF"/>
                    </a:solidFill>
                  </a:tcPr>
                </a:tc>
                <a:tc>
                  <a:txBody>
                    <a:bodyPr/>
                    <a:lstStyle/>
                    <a:p>
                      <a:r>
                        <a:rPr i="0" sz="1000">
                          <a:solidFill>
                            <a:srgbClr val="1F2A37"/>
                          </a:solidFill>
                        </a:rPr>
                        <a:t>Like the music player, by chapter; Speed sets 0.5x to 3x.</a:t>
                      </a:r>
                    </a:p>
                  </a:txBody>
                  <a:tcPr marL="38100" marR="38100" marT="19050" marB="19050">
                    <a:solidFill>
                      <a:srgbClr val="FFFFFF"/>
                    </a:solidFill>
                  </a:tcPr>
                </a:tc>
              </a:tr>
              <a:tr h="304800">
                <a:tc>
                  <a:txBody>
                    <a:bodyPr/>
                    <a:lstStyle/>
                    <a:p>
                      <a:r>
                        <a:rPr i="0" sz="1000">
                          <a:solidFill>
                            <a:srgbClr val="1F2A37"/>
                          </a:solidFill>
                        </a:rPr>
                        <a:t>Settings</a:t>
                      </a:r>
                    </a:p>
                  </a:txBody>
                  <a:tcPr marL="38100" marR="38100" marT="19050" marB="19050">
                    <a:solidFill>
                      <a:srgbClr val="FFFFFF"/>
                    </a:solidFill>
                  </a:tcPr>
                </a:tc>
                <a:tc>
                  <a:txBody>
                    <a:bodyPr/>
                    <a:lstStyle/>
                    <a:p>
                      <a:r>
                        <a:rPr i="0" sz="1000">
                          <a:solidFill>
                            <a:srgbClr val="1F2A37"/>
                          </a:solidFill>
                        </a:rPr>
                        <a:t>Audio language, subtitle language, forced subtitles only; optional ListenBrainz / Last.fm / Trakt link; privacy policy (QR code); About (version); Sign out; Forget server.</a:t>
                      </a:r>
                    </a:p>
                  </a:txBody>
                  <a:tcPr marL="38100" marR="38100" marT="19050" marB="19050">
                    <a:solidFill>
                      <a:srgbClr val="FFFFFF"/>
                    </a:solidFill>
                  </a:tcPr>
                </a:tc>
              </a:tr>
              <a:tr h="304800">
                <a:tc>
                  <a:txBody>
                    <a:bodyPr/>
                    <a:lstStyle/>
                    <a:p>
                      <a:r>
                        <a:rPr i="0" sz="1000">
                          <a:solidFill>
                            <a:srgbClr val="1F2A37"/>
                          </a:solidFill>
                        </a:rPr>
                        <a:t>Live TV / Recordings</a:t>
                      </a:r>
                    </a:p>
                  </a:txBody>
                  <a:tcPr marL="38100" marR="38100" marT="19050" marB="19050">
                    <a:solidFill>
                      <a:srgbClr val="FFFFFF"/>
                    </a:solidFill>
                  </a:tcPr>
                </a:tc>
                <a:tc>
                  <a:txBody>
                    <a:bodyPr/>
                    <a:lstStyle/>
                    <a:p>
                      <a:r>
                        <a:rPr i="0" sz="1000">
                          <a:solidFill>
                            <a:srgbClr val="1F2A37"/>
                          </a:solidFill>
                        </a:rPr>
                        <a:t>Only when the user's server has a TV tuner. The test server has none, so these screens do not appear.</a:t>
                      </a:r>
                    </a:p>
                  </a:txBody>
                  <a:tcPr marL="38100" marR="38100" marT="19050" marB="19050">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r>
              <a:rPr i="0">
                <a:solidFill>
                  <a:srgbClr val="0E5A7A"/>
                </a:solidFill>
              </a:rPr>
              <a:t>Key Policy</a:t>
            </a:r>
          </a:p>
        </p:txBody>
      </p:sp>
      <p:sp>
        <p:nvSpPr>
          <p:cNvPr id="201" name="Google Shape;201;p2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90"/>
              <a:buChar char="⚫"/>
            </a:pPr>
            <a:r>
              <a:rPr i="0" sz="1400">
                <a:solidFill>
                  <a:srgbClr val="1F2A37"/>
                </a:solidFill>
              </a:rPr>
              <a:t>OnScreen's remote-key behaviour on every screen and in the player.</a:t>
            </a:r>
          </a:p>
        </p:txBody>
      </p:sp>
      <p:graphicFrame>
        <p:nvGraphicFramePr>
          <p:cNvPr id="202" name="Table 201"/>
          <p:cNvGraphicFramePr>
            <a:graphicFrameLocks noGrp="1"/>
          </p:cNvGraphicFramePr>
          <p:nvPr/>
        </p:nvGraphicFramePr>
        <p:xfrm>
          <a:off x="457200" y="2311400"/>
          <a:ext cx="8229600" cy="2641600"/>
        </p:xfrm>
        <a:graphic>
          <a:graphicData uri="http://schemas.openxmlformats.org/drawingml/2006/table">
            <a:tbl>
              <a:tblPr firstRow="1" bandRow="0">
                <a:tableStyleId>{5940675A-B579-460E-94D1-54222C63F5DA}</a:tableStyleId>
              </a:tblPr>
              <a:tblGrid>
                <a:gridCol w="1397000"/>
                <a:gridCol w="5308600"/>
                <a:gridCol w="1524000"/>
              </a:tblGrid>
              <a:tr h="203200">
                <a:tc>
                  <a:txBody>
                    <a:bodyPr/>
                    <a:lstStyle/>
                    <a:p>
                      <a:r>
                        <a:rPr i="0" b="1" sz="900">
                          <a:solidFill>
                            <a:srgbClr val="1F2A37"/>
                          </a:solidFill>
                        </a:rPr>
                        <a:t>Button</a:t>
                      </a:r>
                    </a:p>
                  </a:txBody>
                  <a:tcPr marL="38100" marR="38100" marT="19050" marB="19050">
                    <a:solidFill>
                      <a:srgbClr val="E6E6E6"/>
                    </a:solidFill>
                  </a:tcPr>
                </a:tc>
                <a:tc>
                  <a:txBody>
                    <a:bodyPr/>
                    <a:lstStyle/>
                    <a:p>
                      <a:r>
                        <a:rPr i="0" b="1" sz="900">
                          <a:solidFill>
                            <a:srgbClr val="1F2A37"/>
                          </a:solidFill>
                        </a:rPr>
                        <a:t>Action</a:t>
                      </a:r>
                    </a:p>
                  </a:txBody>
                  <a:tcPr marL="38100" marR="38100" marT="19050" marB="19050">
                    <a:solidFill>
                      <a:srgbClr val="E6E6E6"/>
                    </a:solidFill>
                  </a:tcPr>
                </a:tc>
                <a:tc>
                  <a:txBody>
                    <a:bodyPr/>
                    <a:lstStyle/>
                    <a:p>
                      <a:r>
                        <a:rPr i="0" b="1" sz="900">
                          <a:solidFill>
                            <a:srgbClr val="1F2A37"/>
                          </a:solidFill>
                        </a:rPr>
                        <a:t>Remarks</a:t>
                      </a:r>
                    </a:p>
                  </a:txBody>
                  <a:tcPr marL="38100" marR="38100" marT="19050" marB="19050">
                    <a:solidFill>
                      <a:srgbClr val="E6E6E6"/>
                    </a:solidFill>
                  </a:tcPr>
                </a:tc>
              </a:tr>
              <a:tr h="203200">
                <a:tc>
                  <a:txBody>
                    <a:bodyPr/>
                    <a:lstStyle/>
                    <a:p>
                      <a:r>
                        <a:rPr i="0" sz="900">
                          <a:solidFill>
                            <a:srgbClr val="1F2A37"/>
                          </a:solidFill>
                        </a:rPr>
                        <a:t>ENTER (OK)</a:t>
                      </a:r>
                    </a:p>
                  </a:txBody>
                  <a:tcPr marL="38100" marR="38100" marT="19050" marB="19050">
                    <a:solidFill>
                      <a:srgbClr val="FFFFFF"/>
                    </a:solidFill>
                  </a:tcPr>
                </a:tc>
                <a:tc>
                  <a:txBody>
                    <a:bodyPr/>
                    <a:lstStyle/>
                    <a:p>
                      <a:r>
                        <a:rPr i="0" sz="900">
                          <a:solidFill>
                            <a:srgbClr val="1F2A37"/>
                          </a:solidFill>
                        </a:rPr>
                        <a:t>Select the focused item. Hold on a card: options. Player: show the controls / play-pause.</a:t>
                      </a:r>
                    </a:p>
                  </a:txBody>
                  <a:tcPr marL="38100" marR="38100" marT="19050" marB="19050">
                    <a:solidFill>
                      <a:srgbClr val="FFFFFF"/>
                    </a:solidFill>
                  </a:tcPr>
                </a:tc>
                <a:tc>
                  <a:txBody>
                    <a:bodyPr/>
                    <a:lstStyle/>
                    <a:p>
                      <a:r>
                        <a:rPr i="0" sz="900">
                          <a:solidFill>
                            <a:srgbClr val="1F2A37"/>
                          </a:solidFill>
                        </a:rPr>
                        <a:t/>
                      </a:r>
                    </a:p>
                  </a:txBody>
                  <a:tcPr marL="38100" marR="38100" marT="19050" marB="19050">
                    <a:solidFill>
                      <a:srgbClr val="FFFFFF"/>
                    </a:solidFill>
                  </a:tcPr>
                </a:tc>
              </a:tr>
              <a:tr h="203200">
                <a:tc>
                  <a:txBody>
                    <a:bodyPr/>
                    <a:lstStyle/>
                    <a:p>
                      <a:r>
                        <a:rPr i="0" sz="900">
                          <a:solidFill>
                            <a:srgbClr val="1F2A37"/>
                          </a:solidFill>
                        </a:rPr>
                        <a:t>UP / DOWN / LEFT / RIGHT</a:t>
                      </a:r>
                    </a:p>
                  </a:txBody>
                  <a:tcPr marL="38100" marR="38100" marT="19050" marB="19050">
                    <a:solidFill>
                      <a:srgbClr val="FFFFFF"/>
                    </a:solidFill>
                  </a:tcPr>
                </a:tc>
                <a:tc>
                  <a:txBody>
                    <a:bodyPr/>
                    <a:lstStyle/>
                    <a:p>
                      <a:r>
                        <a:rPr i="0" sz="900">
                          <a:solidFill>
                            <a:srgbClr val="1F2A37"/>
                          </a:solidFill>
                        </a:rPr>
                        <a:t>Move the focus. Player with the controls hidden: LEFT / RIGHT seek 10 s; UP / DOWN show the controls.</a:t>
                      </a:r>
                    </a:p>
                  </a:txBody>
                  <a:tcPr marL="38100" marR="38100" marT="19050" marB="19050">
                    <a:solidFill>
                      <a:srgbClr val="FFFFFF"/>
                    </a:solidFill>
                  </a:tcPr>
                </a:tc>
                <a:tc>
                  <a:txBody>
                    <a:bodyPr/>
                    <a:lstStyle/>
                    <a:p>
                      <a:r>
                        <a:rPr i="0" sz="900">
                          <a:solidFill>
                            <a:srgbClr val="1F2A37"/>
                          </a:solidFill>
                        </a:rPr>
                        <a:t/>
                      </a:r>
                    </a:p>
                  </a:txBody>
                  <a:tcPr marL="38100" marR="38100" marT="19050" marB="19050">
                    <a:solidFill>
                      <a:srgbClr val="FFFFFF"/>
                    </a:solidFill>
                  </a:tcPr>
                </a:tc>
              </a:tr>
              <a:tr h="203200">
                <a:tc>
                  <a:txBody>
                    <a:bodyPr/>
                    <a:lstStyle/>
                    <a:p>
                      <a:r>
                        <a:rPr i="0" b="1" sz="900">
                          <a:solidFill>
                            <a:srgbClr val="D00000"/>
                          </a:solidFill>
                        </a:rPr>
                        <a:t>RETURN</a:t>
                      </a:r>
                    </a:p>
                  </a:txBody>
                  <a:tcPr marL="38100" marR="38100" marT="19050" marB="19050">
                    <a:solidFill>
                      <a:srgbClr val="FFFFFF"/>
                    </a:solidFill>
                  </a:tcPr>
                </a:tc>
                <a:tc>
                  <a:txBody>
                    <a:bodyPr/>
                    <a:lstStyle/>
                    <a:p>
                      <a:r>
                        <a:rPr i="0" b="1" sz="900">
                          <a:solidFill>
                            <a:srgbClr val="D00000"/>
                          </a:solidFill>
                        </a:rPr>
                        <a:t>Previous page. On Home and the first-launch screens: closes the app to Smart Hub. Player: closes an open menu or Up Next first, then back to the detail page.</a:t>
                      </a:r>
                    </a:p>
                  </a:txBody>
                  <a:tcPr marL="38100" marR="38100" marT="19050" marB="19050">
                    <a:solidFill>
                      <a:srgbClr val="FFFFFF"/>
                    </a:solidFill>
                  </a:tcPr>
                </a:tc>
                <a:tc>
                  <a:txBody>
                    <a:bodyPr/>
                    <a:lstStyle/>
                    <a:p>
                      <a:r>
                        <a:rPr i="0" b="1" sz="900">
                          <a:solidFill>
                            <a:srgbClr val="D00000"/>
                          </a:solidFill>
                        </a:rPr>
                        <a:t>Samsung Mandatory</a:t>
                      </a:r>
                    </a:p>
                  </a:txBody>
                  <a:tcPr marL="38100" marR="38100" marT="19050" marB="19050">
                    <a:solidFill>
                      <a:srgbClr val="FFFFFF"/>
                    </a:solidFill>
                  </a:tcPr>
                </a:tc>
              </a:tr>
              <a:tr h="203200">
                <a:tc>
                  <a:txBody>
                    <a:bodyPr/>
                    <a:lstStyle/>
                    <a:p>
                      <a:r>
                        <a:rPr i="0" b="1" sz="900">
                          <a:solidFill>
                            <a:srgbClr val="D00000"/>
                          </a:solidFill>
                        </a:rPr>
                        <a:t>EXIT</a:t>
                      </a:r>
                    </a:p>
                  </a:txBody>
                  <a:tcPr marL="38100" marR="38100" marT="19050" marB="19050">
                    <a:solidFill>
                      <a:srgbClr val="FFFFFF"/>
                    </a:solidFill>
                  </a:tcPr>
                </a:tc>
                <a:tc>
                  <a:txBody>
                    <a:bodyPr/>
                    <a:lstStyle/>
                    <a:p>
                      <a:r>
                        <a:rPr i="0" b="1" sz="900">
                          <a:solidFill>
                            <a:srgbClr val="D00000"/>
                          </a:solidFill>
                        </a:rPr>
                        <a:t>Close the app.</a:t>
                      </a:r>
                    </a:p>
                  </a:txBody>
                  <a:tcPr marL="38100" marR="38100" marT="19050" marB="19050">
                    <a:solidFill>
                      <a:srgbClr val="FFFFFF"/>
                    </a:solidFill>
                  </a:tcPr>
                </a:tc>
                <a:tc>
                  <a:txBody>
                    <a:bodyPr/>
                    <a:lstStyle/>
                    <a:p>
                      <a:r>
                        <a:rPr i="0" b="1" sz="900">
                          <a:solidFill>
                            <a:srgbClr val="D00000"/>
                          </a:solidFill>
                        </a:rPr>
                        <a:t>Samsung Mandatory</a:t>
                      </a:r>
                    </a:p>
                  </a:txBody>
                  <a:tcPr marL="38100" marR="38100" marT="19050" marB="19050">
                    <a:solidFill>
                      <a:srgbClr val="FFFFFF"/>
                    </a:solidFill>
                  </a:tcPr>
                </a:tc>
              </a:tr>
              <a:tr h="203200">
                <a:tc>
                  <a:txBody>
                    <a:bodyPr/>
                    <a:lstStyle/>
                    <a:p>
                      <a:r>
                        <a:rPr i="0" sz="900">
                          <a:solidFill>
                            <a:srgbClr val="1F2A37"/>
                          </a:solidFill>
                        </a:rPr>
                        <a:t>PLAY / PAUSE</a:t>
                      </a:r>
                    </a:p>
                  </a:txBody>
                  <a:tcPr marL="38100" marR="38100" marT="19050" marB="19050">
                    <a:solidFill>
                      <a:srgbClr val="FFFFFF"/>
                    </a:solidFill>
                  </a:tcPr>
                </a:tc>
                <a:tc>
                  <a:txBody>
                    <a:bodyPr/>
                    <a:lstStyle/>
                    <a:p>
                      <a:r>
                        <a:rPr i="0" sz="900">
                          <a:solidFill>
                            <a:srgbClr val="1F2A37"/>
                          </a:solidFill>
                        </a:rPr>
                        <a:t>Player: play, pause (PLAY/PAUSE toggles). Photos: start / stop the slideshow.</a:t>
                      </a:r>
                    </a:p>
                  </a:txBody>
                  <a:tcPr marL="38100" marR="38100" marT="19050" marB="19050">
                    <a:solidFill>
                      <a:srgbClr val="FFFFFF"/>
                    </a:solidFill>
                  </a:tcPr>
                </a:tc>
                <a:tc>
                  <a:txBody>
                    <a:bodyPr/>
                    <a:lstStyle/>
                    <a:p>
                      <a:r>
                        <a:rPr i="0" sz="900">
                          <a:solidFill>
                            <a:srgbClr val="1F2A37"/>
                          </a:solidFill>
                        </a:rPr>
                        <a:t/>
                      </a:r>
                    </a:p>
                  </a:txBody>
                  <a:tcPr marL="38100" marR="38100" marT="19050" marB="19050">
                    <a:solidFill>
                      <a:srgbClr val="FFFFFF"/>
                    </a:solidFill>
                  </a:tcPr>
                </a:tc>
              </a:tr>
              <a:tr h="203200">
                <a:tc>
                  <a:txBody>
                    <a:bodyPr/>
                    <a:lstStyle/>
                    <a:p>
                      <a:r>
                        <a:rPr i="0" sz="900">
                          <a:solidFill>
                            <a:srgbClr val="1F2A37"/>
                          </a:solidFill>
                        </a:rPr>
                        <a:t>STOP</a:t>
                      </a:r>
                    </a:p>
                  </a:txBody>
                  <a:tcPr marL="38100" marR="38100" marT="19050" marB="19050">
                    <a:solidFill>
                      <a:srgbClr val="FFFFFF"/>
                    </a:solidFill>
                  </a:tcPr>
                </a:tc>
                <a:tc>
                  <a:txBody>
                    <a:bodyPr/>
                    <a:lstStyle/>
                    <a:p>
                      <a:r>
                        <a:rPr i="0" sz="900">
                          <a:solidFill>
                            <a:srgbClr val="1F2A37"/>
                          </a:solidFill>
                        </a:rPr>
                        <a:t>Player: pause.</a:t>
                      </a:r>
                    </a:p>
                  </a:txBody>
                  <a:tcPr marL="38100" marR="38100" marT="19050" marB="19050">
                    <a:solidFill>
                      <a:srgbClr val="FFFFFF"/>
                    </a:solidFill>
                  </a:tcPr>
                </a:tc>
                <a:tc>
                  <a:txBody>
                    <a:bodyPr/>
                    <a:lstStyle/>
                    <a:p>
                      <a:r>
                        <a:rPr i="0" sz="900">
                          <a:solidFill>
                            <a:srgbClr val="1F2A37"/>
                          </a:solidFill>
                        </a:rPr>
                        <a:t/>
                      </a:r>
                    </a:p>
                  </a:txBody>
                  <a:tcPr marL="38100" marR="38100" marT="19050" marB="19050">
                    <a:solidFill>
                      <a:srgbClr val="FFFFFF"/>
                    </a:solidFill>
                  </a:tcPr>
                </a:tc>
              </a:tr>
              <a:tr h="203200">
                <a:tc>
                  <a:txBody>
                    <a:bodyPr/>
                    <a:lstStyle/>
                    <a:p>
                      <a:r>
                        <a:rPr i="0" sz="900">
                          <a:solidFill>
                            <a:srgbClr val="1F2A37"/>
                          </a:solidFill>
                        </a:rPr>
                        <a:t>FF / REW</a:t>
                      </a:r>
                    </a:p>
                  </a:txBody>
                  <a:tcPr marL="38100" marR="38100" marT="19050" marB="19050">
                    <a:solidFill>
                      <a:srgbClr val="FFFFFF"/>
                    </a:solidFill>
                  </a:tcPr>
                </a:tc>
                <a:tc>
                  <a:txBody>
                    <a:bodyPr/>
                    <a:lstStyle/>
                    <a:p>
                      <a:r>
                        <a:rPr i="0" sz="900">
                          <a:solidFill>
                            <a:srgbClr val="1F2A37"/>
                          </a:solidFill>
                        </a:rPr>
                        <a:t>Video and audiobooks: forward / back 30 s. Music: next / previous track.</a:t>
                      </a:r>
                    </a:p>
                  </a:txBody>
                  <a:tcPr marL="38100" marR="38100" marT="19050" marB="19050">
                    <a:solidFill>
                      <a:srgbClr val="FFFFFF"/>
                    </a:solidFill>
                  </a:tcPr>
                </a:tc>
                <a:tc>
                  <a:txBody>
                    <a:bodyPr/>
                    <a:lstStyle/>
                    <a:p>
                      <a:r>
                        <a:rPr i="0" sz="900">
                          <a:solidFill>
                            <a:srgbClr val="1F2A37"/>
                          </a:solidFill>
                        </a:rPr>
                        <a:t/>
                      </a:r>
                    </a:p>
                  </a:txBody>
                  <a:tcPr marL="38100" marR="38100" marT="19050" marB="19050">
                    <a:solidFill>
                      <a:srgbClr val="FFFFFF"/>
                    </a:solidFill>
                  </a:tcPr>
                </a:tc>
              </a:tr>
              <a:tr h="203200">
                <a:tc>
                  <a:txBody>
                    <a:bodyPr/>
                    <a:lstStyle/>
                    <a:p>
                      <a:r>
                        <a:rPr i="0" sz="900">
                          <a:solidFill>
                            <a:srgbClr val="1F2A37"/>
                          </a:solidFill>
                        </a:rPr>
                        <a:t>CH UP / DOWN</a:t>
                      </a:r>
                    </a:p>
                  </a:txBody>
                  <a:tcPr marL="38100" marR="38100" marT="19050" marB="19050">
                    <a:solidFill>
                      <a:srgbClr val="FFFFFF"/>
                    </a:solidFill>
                  </a:tcPr>
                </a:tc>
                <a:tc>
                  <a:txBody>
                    <a:bodyPr/>
                    <a:lstStyle/>
                    <a:p>
                      <a:r>
                        <a:rPr i="0" sz="900">
                          <a:solidFill>
                            <a:srgbClr val="1F2A37"/>
                          </a:solidFill>
                        </a:rPr>
                        <a:t>Player: next / previous track, audiobook chapter or episode (or chapter of a film). Live TV: next / previous channel.</a:t>
                      </a:r>
                    </a:p>
                  </a:txBody>
                  <a:tcPr marL="38100" marR="38100" marT="19050" marB="19050">
                    <a:solidFill>
                      <a:srgbClr val="FFFFFF"/>
                    </a:solidFill>
                  </a:tcPr>
                </a:tc>
                <a:tc>
                  <a:txBody>
                    <a:bodyPr/>
                    <a:lstStyle/>
                    <a:p>
                      <a:r>
                        <a:rPr i="0" sz="900">
                          <a:solidFill>
                            <a:srgbClr val="1F2A37"/>
                          </a:solidFill>
                        </a:rPr>
                        <a:t>Elsewhere: N/R</a:t>
                      </a:r>
                    </a:p>
                  </a:txBody>
                  <a:tcPr marL="38100" marR="38100" marT="19050" marB="19050">
                    <a:solidFill>
                      <a:srgbClr val="FFFFFF"/>
                    </a:solidFill>
                  </a:tcPr>
                </a:tc>
              </a:tr>
              <a:tr h="203200">
                <a:tc>
                  <a:txBody>
                    <a:bodyPr/>
                    <a:lstStyle/>
                    <a:p>
                      <a:r>
                        <a:rPr i="0" sz="900">
                          <a:solidFill>
                            <a:srgbClr val="1F2A37"/>
                          </a:solidFill>
                        </a:rPr>
                        <a:t>RED / GREEN</a:t>
                      </a:r>
                    </a:p>
                  </a:txBody>
                  <a:tcPr marL="38100" marR="38100" marT="19050" marB="19050">
                    <a:solidFill>
                      <a:srgbClr val="FFFFFF"/>
                    </a:solidFill>
                  </a:tcPr>
                </a:tc>
                <a:tc>
                  <a:txBody>
                    <a:bodyPr/>
                    <a:lstStyle/>
                    <a:p>
                      <a:r>
                        <a:rPr i="0" sz="900">
                          <a:solidFill>
                            <a:srgbClr val="1F2A37"/>
                          </a:solidFill>
                        </a:rPr>
                        <a:t>Player: previous / next chapter.</a:t>
                      </a:r>
                    </a:p>
                  </a:txBody>
                  <a:tcPr marL="38100" marR="38100" marT="19050" marB="19050">
                    <a:solidFill>
                      <a:srgbClr val="FFFFFF"/>
                    </a:solidFill>
                  </a:tcPr>
                </a:tc>
                <a:tc>
                  <a:txBody>
                    <a:bodyPr/>
                    <a:lstStyle/>
                    <a:p>
                      <a:r>
                        <a:rPr i="0" sz="900">
                          <a:solidFill>
                            <a:srgbClr val="1F2A37"/>
                          </a:solidFill>
                        </a:rPr>
                        <a:t>Elsewhere: N/R</a:t>
                      </a:r>
                    </a:p>
                  </a:txBody>
                  <a:tcPr marL="38100" marR="38100" marT="19050" marB="19050">
                    <a:solidFill>
                      <a:srgbClr val="FFFFFF"/>
                    </a:solidFill>
                  </a:tcPr>
                </a:tc>
              </a:tr>
              <a:tr h="203200">
                <a:tc>
                  <a:txBody>
                    <a:bodyPr/>
                    <a:lstStyle/>
                    <a:p>
                      <a:r>
                        <a:rPr i="0" sz="900">
                          <a:solidFill>
                            <a:srgbClr val="1F2A37"/>
                          </a:solidFill>
                        </a:rPr>
                        <a:t>YELLOW / BLUE</a:t>
                      </a:r>
                    </a:p>
                  </a:txBody>
                  <a:tcPr marL="38100" marR="38100" marT="19050" marB="19050">
                    <a:solidFill>
                      <a:srgbClr val="FFFFFF"/>
                    </a:solidFill>
                  </a:tcPr>
                </a:tc>
                <a:tc>
                  <a:txBody>
                    <a:bodyPr/>
                    <a:lstStyle/>
                    <a:p>
                      <a:r>
                        <a:rPr i="0" sz="900">
                          <a:solidFill>
                            <a:srgbClr val="1F2A37"/>
                          </a:solidFill>
                        </a:rPr>
                        <a:t>Player: open the Audio / Subtitles picker.</a:t>
                      </a:r>
                    </a:p>
                  </a:txBody>
                  <a:tcPr marL="38100" marR="38100" marT="19050" marB="19050">
                    <a:solidFill>
                      <a:srgbClr val="FFFFFF"/>
                    </a:solidFill>
                  </a:tcPr>
                </a:tc>
                <a:tc>
                  <a:txBody>
                    <a:bodyPr/>
                    <a:lstStyle/>
                    <a:p>
                      <a:r>
                        <a:rPr i="0" sz="900">
                          <a:solidFill>
                            <a:srgbClr val="1F2A37"/>
                          </a:solidFill>
                        </a:rPr>
                        <a:t>Elsewhere: N/R</a:t>
                      </a:r>
                    </a:p>
                  </a:txBody>
                  <a:tcPr marL="38100" marR="38100" marT="19050" marB="19050">
                    <a:solidFill>
                      <a:srgbClr val="FFFFFF"/>
                    </a:solidFill>
                  </a:tcPr>
                </a:tc>
              </a:tr>
              <a:tr h="203200">
                <a:tc>
                  <a:txBody>
                    <a:bodyPr/>
                    <a:lstStyle/>
                    <a:p>
                      <a:r>
                        <a:rPr i="0" sz="900">
                          <a:solidFill>
                            <a:srgbClr val="1F2A37"/>
                          </a:solidFill>
                        </a:rPr>
                        <a:t>0-9</a:t>
                      </a:r>
                    </a:p>
                  </a:txBody>
                  <a:tcPr marL="38100" marR="38100" marT="19050" marB="19050">
                    <a:solidFill>
                      <a:srgbClr val="FFFFFF"/>
                    </a:solidFill>
                  </a:tcPr>
                </a:tc>
                <a:tc>
                  <a:txBody>
                    <a:bodyPr/>
                    <a:lstStyle/>
                    <a:p>
                      <a:r>
                        <a:rPr i="0" sz="900">
                          <a:solidFill>
                            <a:srgbClr val="1F2A37"/>
                          </a:solidFill>
                        </a:rPr>
                        <a:t>N/R</a:t>
                      </a:r>
                    </a:p>
                  </a:txBody>
                  <a:tcPr marL="38100" marR="38100" marT="19050" marB="19050">
                    <a:solidFill>
                      <a:srgbClr val="FFFFFF"/>
                    </a:solidFill>
                  </a:tcPr>
                </a:tc>
                <a:tc>
                  <a:txBody>
                    <a:bodyPr/>
                    <a:lstStyle/>
                    <a:p>
                      <a:r>
                        <a:rPr i="0" sz="900">
                          <a:solidFill>
                            <a:srgbClr val="1F2A37"/>
                          </a:solidFill>
                        </a:rPr>
                        <a:t/>
                      </a:r>
                    </a:p>
                  </a:txBody>
                  <a:tcPr marL="38100" marR="38100" marT="19050" marB="19050">
                    <a:solidFill>
                      <a:srgbClr val="FFFFFF"/>
                    </a:solidFill>
                  </a:tcPr>
                </a:tc>
              </a:tr>
              <a:tr h="203200">
                <a:tc>
                  <a:txBody>
                    <a:bodyPr/>
                    <a:lstStyle/>
                    <a:p>
                      <a:r>
                        <a:rPr i="0" sz="900">
                          <a:solidFill>
                            <a:srgbClr val="1F2A37"/>
                          </a:solidFill>
                        </a:rPr>
                        <a:t>VOLUME / MUTE</a:t>
                      </a:r>
                    </a:p>
                  </a:txBody>
                  <a:tcPr marL="38100" marR="38100" marT="19050" marB="19050">
                    <a:solidFill>
                      <a:srgbClr val="FFFFFF"/>
                    </a:solidFill>
                  </a:tcPr>
                </a:tc>
                <a:tc>
                  <a:txBody>
                    <a:bodyPr/>
                    <a:lstStyle/>
                    <a:p>
                      <a:r>
                        <a:rPr i="0" sz="900">
                          <a:solidFill>
                            <a:srgbClr val="1F2A37"/>
                          </a:solidFill>
                        </a:rPr>
                        <a:t>Handled by the TV (system volume OSD).</a:t>
                      </a:r>
                    </a:p>
                  </a:txBody>
                  <a:tcPr marL="38100" marR="38100" marT="19050" marB="19050">
                    <a:solidFill>
                      <a:srgbClr val="FFFFFF"/>
                    </a:solidFill>
                  </a:tcPr>
                </a:tc>
                <a:tc>
                  <a:txBody>
                    <a:bodyPr/>
                    <a:lstStyle/>
                    <a:p>
                      <a:r>
                        <a:rPr i="0" sz="900">
                          <a:solidFill>
                            <a:srgbClr val="1F2A37"/>
                          </a:solidFill>
                        </a:rPr>
                        <a:t/>
                      </a:r>
                    </a:p>
                  </a:txBody>
                  <a:tcPr marL="38100" marR="38100" marT="19050" marB="19050">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a:t>How to change languages</a:t>
            </a:r>
            <a:endParaRPr/>
          </a:p>
        </p:txBody>
      </p:sp>
      <p:graphicFrame>
        <p:nvGraphicFramePr>
          <p:cNvPr id="208" name="Table 207"/>
          <p:cNvGraphicFramePr>
            <a:graphicFrameLocks noGrp="1"/>
          </p:cNvGraphicFramePr>
          <p:nvPr/>
        </p:nvGraphicFramePr>
        <p:xfrm>
          <a:off x="457200" y="2032000"/>
          <a:ext cx="8229600" cy="558800"/>
        </p:xfrm>
        <a:graphic>
          <a:graphicData uri="http://schemas.openxmlformats.org/drawingml/2006/table">
            <a:tbl>
              <a:tblPr firstRow="1" bandRow="0">
                <a:tableStyleId>{5940675A-B579-460E-94D1-54222C63F5DA}</a:tableStyleId>
              </a:tblPr>
              <a:tblGrid>
                <a:gridCol w="1905000"/>
                <a:gridCol w="6324600"/>
              </a:tblGrid>
              <a:tr h="279400">
                <a:tc>
                  <a:txBody>
                    <a:bodyPr/>
                    <a:lstStyle/>
                    <a:p>
                      <a:r>
                        <a:rPr i="0" b="1" sz="1200">
                          <a:solidFill>
                            <a:srgbClr val="1F2A37"/>
                          </a:solidFill>
                        </a:rPr>
                        <a:t>Items</a:t>
                      </a:r>
                    </a:p>
                  </a:txBody>
                  <a:tcPr marL="38100" marR="38100" marT="19050" marB="19050">
                    <a:solidFill>
                      <a:srgbClr val="E6E6E6"/>
                    </a:solidFill>
                  </a:tcPr>
                </a:tc>
                <a:tc>
                  <a:txBody>
                    <a:bodyPr/>
                    <a:lstStyle/>
                    <a:p>
                      <a:r>
                        <a:rPr i="0" b="1" sz="1200">
                          <a:solidFill>
                            <a:srgbClr val="1F2A37"/>
                          </a:solidFill>
                        </a:rPr>
                        <a:t>Contents</a:t>
                      </a:r>
                    </a:p>
                  </a:txBody>
                  <a:tcPr marL="38100" marR="38100" marT="19050" marB="19050">
                    <a:solidFill>
                      <a:srgbClr val="E6E6E6"/>
                    </a:solidFill>
                  </a:tcPr>
                </a:tc>
              </a:tr>
              <a:tr h="279400">
                <a:tc>
                  <a:txBody>
                    <a:bodyPr/>
                    <a:lstStyle/>
                    <a:p>
                      <a:r>
                        <a:rPr i="0" sz="1200">
                          <a:solidFill>
                            <a:srgbClr val="1F2A37"/>
                          </a:solidFill>
                        </a:rPr>
                        <a:t>How to change languages</a:t>
                      </a:r>
                    </a:p>
                  </a:txBody>
                  <a:tcPr marL="38100" marR="38100" marT="19050" marB="19050">
                    <a:solidFill>
                      <a:srgbClr val="FFFFFF"/>
                    </a:solidFill>
                  </a:tcPr>
                </a:tc>
                <a:tc>
                  <a:txBody>
                    <a:bodyPr/>
                    <a:lstStyle/>
                    <a:p>
                      <a:r>
                        <a:rPr i="0" sz="1200">
                          <a:solidFill>
                            <a:srgbClr val="1F2A37"/>
                          </a:solidFill>
                        </a:rPr>
                        <a:t>Not applicable: the app's menus are in English only. With another TV menu language (Settings &gt; General &gt; System Manager &gt; Language) the app stays in English, with no broken layout or missing text. Titles and descriptions come from the user's server in the language of its metadata. Audio and subtitle track languages are chosen in the player or in the app's Settings (Audio language, Subtitle language).</a:t>
                      </a:r>
                    </a:p>
                  </a:txBody>
                  <a:tcPr marL="38100" marR="38100" marT="19050" marB="19050">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흐름">
  <a:themeElements>
    <a:clrScheme name="흐름">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흐름">
  <a:themeElements>
    <a:clrScheme name="흐름">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